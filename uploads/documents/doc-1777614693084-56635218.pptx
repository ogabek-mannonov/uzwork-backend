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Heebo Bold" panose="020B0604020202020204" charset="-79"/>
      <p:regular r:id="rId17"/>
    </p:embeddedFont>
    <p:embeddedFont>
      <p:font typeface="Heebo Light" pitchFamily="2" charset="-79"/>
      <p:regular r:id="rId18"/>
    </p:embeddedFont>
    <p:embeddedFont>
      <p:font typeface="Montserrat" panose="00000500000000000000" pitchFamily="2" charset="-52"/>
      <p:regular r:id="rId19"/>
      <p:bold r:id="rId20"/>
    </p:embeddedFont>
    <p:embeddedFont>
      <p:font typeface="Montserrat Bold" panose="00000800000000000000" charset="-52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711798720472437E-2"/>
          <c:y val="1.6831887949490185E-2"/>
          <c:w val="0.90747570127952759"/>
          <c:h val="0.905502739576907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7ABED"/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2"/>
            <c:invertIfNegative val="0"/>
            <c:bubble3D val="0"/>
            <c:spPr>
              <a:solidFill>
                <a:srgbClr val="F9B61D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9E2-4497-902B-88929F2A9893}"/>
              </c:ext>
            </c:extLst>
          </c:dPt>
          <c:dPt>
            <c:idx val="3"/>
            <c:invertIfNegative val="0"/>
            <c:bubble3D val="0"/>
            <c:spPr>
              <a:solidFill>
                <a:srgbClr val="F9B61D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9E2-4497-902B-88929F2A98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150000</c:v>
                </c:pt>
                <c:pt idx="2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E2-4497-902B-88929F2A98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78484128"/>
        <c:axId val="1878485088"/>
      </c:barChart>
      <c:catAx>
        <c:axId val="18784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8485088"/>
        <c:crosses val="autoZero"/>
        <c:auto val="1"/>
        <c:lblAlgn val="ctr"/>
        <c:lblOffset val="100"/>
        <c:noMultiLvlLbl val="0"/>
      </c:catAx>
      <c:valAx>
        <c:axId val="1878485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78484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sv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26" Type="http://schemas.openxmlformats.org/officeDocument/2006/relationships/image" Target="../media/image36.svg"/><Relationship Id="rId3" Type="http://schemas.openxmlformats.org/officeDocument/2006/relationships/image" Target="../media/image4.png"/><Relationship Id="rId21" Type="http://schemas.openxmlformats.org/officeDocument/2006/relationships/image" Target="../media/image31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5" Type="http://schemas.openxmlformats.org/officeDocument/2006/relationships/image" Target="../media/image35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24" Type="http://schemas.openxmlformats.org/officeDocument/2006/relationships/image" Target="../media/image34.sv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23" Type="http://schemas.openxmlformats.org/officeDocument/2006/relationships/image" Target="../media/image33.png"/><Relationship Id="rId28" Type="http://schemas.openxmlformats.org/officeDocument/2006/relationships/image" Target="../media/image38.svg"/><Relationship Id="rId10" Type="http://schemas.openxmlformats.org/officeDocument/2006/relationships/image" Target="../media/image20.png"/><Relationship Id="rId19" Type="http://schemas.openxmlformats.org/officeDocument/2006/relationships/image" Target="../media/image29.sv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19.sv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5.png"/><Relationship Id="rId4" Type="http://schemas.openxmlformats.org/officeDocument/2006/relationships/hyperlink" Target="https://gamma.app/?utm_source=made-with-gamma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sv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45.svg"/><Relationship Id="rId5" Type="http://schemas.openxmlformats.org/officeDocument/2006/relationships/image" Target="../media/image40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" Type="http://schemas.openxmlformats.org/officeDocument/2006/relationships/image" Target="../media/image1.png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57.png"/><Relationship Id="rId5" Type="http://schemas.openxmlformats.org/officeDocument/2006/relationships/image" Target="../media/image15.png"/><Relationship Id="rId15" Type="http://schemas.openxmlformats.org/officeDocument/2006/relationships/image" Target="../media/image61.png"/><Relationship Id="rId10" Type="http://schemas.openxmlformats.org/officeDocument/2006/relationships/image" Target="../media/image56.sv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15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2.jpeg"/><Relationship Id="rId3" Type="http://schemas.openxmlformats.org/officeDocument/2006/relationships/image" Target="../media/image4.png"/><Relationship Id="rId7" Type="http://schemas.openxmlformats.org/officeDocument/2006/relationships/image" Target="../media/image68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15.png"/><Relationship Id="rId10" Type="http://schemas.openxmlformats.org/officeDocument/2006/relationships/image" Target="../media/image71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33352" y="4639885"/>
            <a:ext cx="7088238" cy="676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748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UzWork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44237" y="5421058"/>
            <a:ext cx="7866459" cy="907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</a:pPr>
            <a:r>
              <a:rPr lang="en-US" sz="300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O'zbekistondagi yagona bo’lgan freelancerlar platformasi.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307905" y="0"/>
            <a:ext cx="8006334" cy="10287000"/>
            <a:chOff x="0" y="0"/>
            <a:chExt cx="10675112" cy="13716000"/>
          </a:xfrm>
        </p:grpSpPr>
        <p:sp>
          <p:nvSpPr>
            <p:cNvPr id="9" name="Freeform 9" descr="A computer and phone with text messages  AI-generated content may be incorrect."/>
            <p:cNvSpPr/>
            <p:nvPr/>
          </p:nvSpPr>
          <p:spPr>
            <a:xfrm>
              <a:off x="0" y="0"/>
              <a:ext cx="10675112" cy="13716000"/>
            </a:xfrm>
            <a:custGeom>
              <a:avLst/>
              <a:gdLst/>
              <a:ahLst/>
              <a:cxnLst/>
              <a:rect l="l" t="t" r="r" b="b"/>
              <a:pathLst>
                <a:path w="10675112" h="13716000">
                  <a:moveTo>
                    <a:pt x="0" y="0"/>
                  </a:moveTo>
                  <a:lnTo>
                    <a:pt x="10675112" y="0"/>
                  </a:lnTo>
                  <a:lnTo>
                    <a:pt x="1067511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694" b="-2869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58540" y="4035619"/>
            <a:ext cx="11605260" cy="122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99"/>
              </a:lnSpc>
            </a:pPr>
            <a:r>
              <a:rPr lang="en-US" sz="8248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Bozordagi</a:t>
            </a:r>
            <a:r>
              <a:rPr lang="en-US" sz="8248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 </a:t>
            </a:r>
            <a:r>
              <a:rPr lang="en-US" sz="8248" b="1" dirty="0" err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Muammolar</a:t>
            </a:r>
            <a:endParaRPr lang="en-US" sz="8248" b="1" dirty="0">
              <a:solidFill>
                <a:srgbClr val="38BDF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80937" y="5458711"/>
            <a:ext cx="8961120" cy="73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Nima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uchun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mavjud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tizimlar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nafaqat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foydasiz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balki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biznes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va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frilanserlar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uchun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9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xavfli</a:t>
            </a:r>
            <a:r>
              <a:rPr lang="en-US" sz="2249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50238" y="1379487"/>
            <a:ext cx="9445523" cy="196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6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Bozordagi asosiy muammolar</a:t>
            </a:r>
          </a:p>
        </p:txBody>
      </p:sp>
      <p:sp>
        <p:nvSpPr>
          <p:cNvPr id="7" name="Freeform 7"/>
          <p:cNvSpPr/>
          <p:nvPr/>
        </p:nvSpPr>
        <p:spPr>
          <a:xfrm>
            <a:off x="7845476" y="3762375"/>
            <a:ext cx="4590383" cy="2569464"/>
          </a:xfrm>
          <a:custGeom>
            <a:avLst/>
            <a:gdLst/>
            <a:ahLst/>
            <a:cxnLst/>
            <a:rect l="l" t="t" r="r" b="b"/>
            <a:pathLst>
              <a:path w="4590383" h="2569464">
                <a:moveTo>
                  <a:pt x="0" y="0"/>
                </a:moveTo>
                <a:lnTo>
                  <a:pt x="4590383" y="0"/>
                </a:lnTo>
                <a:lnTo>
                  <a:pt x="4590383" y="2569464"/>
                </a:lnTo>
                <a:lnTo>
                  <a:pt x="0" y="2569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8143284" y="4022084"/>
            <a:ext cx="3704777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Telegram </a:t>
            </a: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tartibsizligi</a:t>
            </a:r>
            <a:endParaRPr lang="en-US" sz="275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284" y="4406503"/>
            <a:ext cx="3994842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006" lvl="2" indent="-147002" algn="l">
              <a:lnSpc>
                <a:spcPts val="3561"/>
              </a:lnSpc>
              <a:buFont typeface="Arial"/>
              <a:buChar char="⚬"/>
            </a:pPr>
            <a:r>
              <a:rPr lang="en-US" sz="224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Nazoratsiz</a:t>
            </a:r>
            <a:r>
              <a: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4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guruhlar</a:t>
            </a:r>
            <a:endParaRPr lang="en-US" sz="2249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41006" lvl="2" indent="-147002" algn="l">
              <a:lnSpc>
                <a:spcPts val="3561"/>
              </a:lnSpc>
              <a:buFont typeface="Arial"/>
              <a:buChar char="⚬"/>
            </a:pPr>
            <a:r>
              <a:rPr lang="en-US" sz="224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Yuqori</a:t>
            </a:r>
            <a:r>
              <a: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4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firibgarlik</a:t>
            </a:r>
            <a:r>
              <a: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(scam) </a:t>
            </a:r>
            <a:r>
              <a:rPr lang="en-US" sz="2249" dirty="0" err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darajasi</a:t>
            </a:r>
            <a:endParaRPr lang="en-US" sz="2249" dirty="0">
              <a:solidFill>
                <a:srgbClr val="FFFFFF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709922" y="3762375"/>
            <a:ext cx="4590574" cy="2569464"/>
          </a:xfrm>
          <a:custGeom>
            <a:avLst/>
            <a:gdLst/>
            <a:ahLst/>
            <a:cxnLst/>
            <a:rect l="l" t="t" r="r" b="b"/>
            <a:pathLst>
              <a:path w="4590574" h="2569464">
                <a:moveTo>
                  <a:pt x="0" y="0"/>
                </a:moveTo>
                <a:lnTo>
                  <a:pt x="4590574" y="0"/>
                </a:lnTo>
                <a:lnTo>
                  <a:pt x="4590574" y="2569464"/>
                </a:lnTo>
                <a:lnTo>
                  <a:pt x="0" y="2569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13007731" y="4022084"/>
            <a:ext cx="4137269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To'lov</a:t>
            </a:r>
            <a:r>
              <a:rPr lang="en-US" sz="275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xavfsizligi</a:t>
            </a:r>
            <a:r>
              <a:rPr lang="en-US" sz="275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yo'q</a:t>
            </a:r>
            <a:endParaRPr lang="en-US" sz="275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7845476" y="6605883"/>
            <a:ext cx="9455086" cy="2115884"/>
          </a:xfrm>
          <a:custGeom>
            <a:avLst/>
            <a:gdLst/>
            <a:ahLst/>
            <a:cxnLst/>
            <a:rect l="l" t="t" r="r" b="b"/>
            <a:pathLst>
              <a:path w="9455086" h="2115884">
                <a:moveTo>
                  <a:pt x="0" y="0"/>
                </a:moveTo>
                <a:lnTo>
                  <a:pt x="9455086" y="0"/>
                </a:lnTo>
                <a:lnTo>
                  <a:pt x="9455086" y="2115883"/>
                </a:lnTo>
                <a:lnTo>
                  <a:pt x="0" y="21158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8143284" y="686559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Xalqaro</a:t>
            </a:r>
            <a:r>
              <a:rPr lang="en-US" sz="275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to'siqlar</a:t>
            </a:r>
            <a:endParaRPr lang="en-US" sz="275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3007731" y="4593269"/>
            <a:ext cx="3497113" cy="1100461"/>
            <a:chOff x="0" y="0"/>
            <a:chExt cx="4662818" cy="14672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62805" cy="1467231"/>
            </a:xfrm>
            <a:custGeom>
              <a:avLst/>
              <a:gdLst/>
              <a:ahLst/>
              <a:cxnLst/>
              <a:rect l="l" t="t" r="r" b="b"/>
              <a:pathLst>
                <a:path w="4662805" h="1467231">
                  <a:moveTo>
                    <a:pt x="0" y="0"/>
                  </a:moveTo>
                  <a:lnTo>
                    <a:pt x="4662805" y="0"/>
                  </a:lnTo>
                  <a:lnTo>
                    <a:pt x="4662805" y="1467231"/>
                  </a:lnTo>
                  <a:lnTo>
                    <a:pt x="0" y="146723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t="-11878" b="-11880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07731" y="4457538"/>
            <a:ext cx="3497113" cy="1236193"/>
            <a:chOff x="0" y="0"/>
            <a:chExt cx="4662818" cy="16482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62817" cy="1648256"/>
            </a:xfrm>
            <a:custGeom>
              <a:avLst/>
              <a:gdLst/>
              <a:ahLst/>
              <a:cxnLst/>
              <a:rect l="l" t="t" r="r" b="b"/>
              <a:pathLst>
                <a:path w="4662817" h="1648256">
                  <a:moveTo>
                    <a:pt x="0" y="0"/>
                  </a:moveTo>
                  <a:lnTo>
                    <a:pt x="4662817" y="0"/>
                  </a:lnTo>
                  <a:lnTo>
                    <a:pt x="4662817" y="1648256"/>
                  </a:lnTo>
                  <a:lnTo>
                    <a:pt x="0" y="164825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5121" b="-5122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80975"/>
              <a:ext cx="4662818" cy="18292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41006" lvl="2" indent="-147002" algn="l">
                <a:lnSpc>
                  <a:spcPts val="4049"/>
                </a:lnSpc>
                <a:buFont typeface="Arial"/>
                <a:buChar char="⚬"/>
              </a:pP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Mablag'ni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yo'qotish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xavfi</a:t>
              </a:r>
              <a:endPara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441006" lvl="2" indent="-147002" algn="l">
                <a:lnSpc>
                  <a:spcPts val="4049"/>
                </a:lnSpc>
                <a:buFont typeface="Arial"/>
                <a:buChar char="⚬"/>
              </a:pP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Kafolatsiz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bitimlar</a:t>
              </a:r>
              <a:endPara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51549" y="7394486"/>
            <a:ext cx="4386215" cy="807910"/>
            <a:chOff x="0" y="0"/>
            <a:chExt cx="5848286" cy="107721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48350" cy="1077214"/>
            </a:xfrm>
            <a:custGeom>
              <a:avLst/>
              <a:gdLst/>
              <a:ahLst/>
              <a:cxnLst/>
              <a:rect l="l" t="t" r="r" b="b"/>
              <a:pathLst>
                <a:path w="5848350" h="1077214">
                  <a:moveTo>
                    <a:pt x="0" y="0"/>
                  </a:moveTo>
                  <a:lnTo>
                    <a:pt x="5848350" y="0"/>
                  </a:lnTo>
                  <a:lnTo>
                    <a:pt x="5848350" y="1077214"/>
                  </a:lnTo>
                  <a:lnTo>
                    <a:pt x="0" y="107721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t="-55712" r="1" b="-55713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51549" y="7358767"/>
            <a:ext cx="4386215" cy="843629"/>
            <a:chOff x="0" y="0"/>
            <a:chExt cx="5848286" cy="112483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48287" cy="1124838"/>
            </a:xfrm>
            <a:custGeom>
              <a:avLst/>
              <a:gdLst/>
              <a:ahLst/>
              <a:cxnLst/>
              <a:rect l="l" t="t" r="r" b="b"/>
              <a:pathLst>
                <a:path w="5848287" h="1124838">
                  <a:moveTo>
                    <a:pt x="0" y="0"/>
                  </a:moveTo>
                  <a:lnTo>
                    <a:pt x="5848287" y="0"/>
                  </a:lnTo>
                  <a:lnTo>
                    <a:pt x="5848287" y="1124838"/>
                  </a:lnTo>
                  <a:lnTo>
                    <a:pt x="0" y="112483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51307" b="-51307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848286" cy="1172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41006" lvl="2" indent="-147002" algn="l">
                <a:lnSpc>
                  <a:spcPts val="2699"/>
                </a:lnSpc>
                <a:buFont typeface="Arial"/>
                <a:buChar char="⚬"/>
              </a:pP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Upwork/Fiverr: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yechish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qiyin</a:t>
              </a:r>
              <a:endPara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441006" lvl="2" indent="-147002" algn="l">
                <a:lnSpc>
                  <a:spcPts val="2699"/>
                </a:lnSpc>
                <a:buFont typeface="Arial"/>
                <a:buChar char="⚬"/>
              </a:pP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Til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valyuta</a:t>
              </a:r>
              <a:r>
                <a:rPr lang="en-US" sz="2249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249" dirty="0" err="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muammolari</a:t>
              </a:r>
              <a:endParaRPr lang="en-US" sz="224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7427595" cy="10287000"/>
            <a:chOff x="0" y="0"/>
            <a:chExt cx="9903460" cy="13716000"/>
          </a:xfrm>
        </p:grpSpPr>
        <p:sp>
          <p:nvSpPr>
            <p:cNvPr id="25" name="Freeform 25" descr="A cellphone with text messages  AI-generated content may be incorrect."/>
            <p:cNvSpPr/>
            <p:nvPr/>
          </p:nvSpPr>
          <p:spPr>
            <a:xfrm>
              <a:off x="0" y="0"/>
              <a:ext cx="9903460" cy="13716000"/>
            </a:xfrm>
            <a:custGeom>
              <a:avLst/>
              <a:gdLst/>
              <a:ahLst/>
              <a:cxnLst/>
              <a:rect l="l" t="t" r="r" b="b"/>
              <a:pathLst>
                <a:path w="9903460" h="13716000">
                  <a:moveTo>
                    <a:pt x="0" y="0"/>
                  </a:moveTo>
                  <a:lnTo>
                    <a:pt x="9903460" y="0"/>
                  </a:lnTo>
                  <a:lnTo>
                    <a:pt x="99034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29538" y="1541336"/>
            <a:ext cx="115938" cy="679714"/>
            <a:chOff x="0" y="0"/>
            <a:chExt cx="154584" cy="906285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54559" cy="906272"/>
            </a:xfrm>
            <a:custGeom>
              <a:avLst/>
              <a:gdLst/>
              <a:ahLst/>
              <a:cxnLst/>
              <a:rect l="l" t="t" r="r" b="b"/>
              <a:pathLst>
                <a:path w="154559" h="906272">
                  <a:moveTo>
                    <a:pt x="0" y="0"/>
                  </a:moveTo>
                  <a:lnTo>
                    <a:pt x="154559" y="0"/>
                  </a:lnTo>
                  <a:lnTo>
                    <a:pt x="154559" y="906272"/>
                  </a:lnTo>
                  <a:lnTo>
                    <a:pt x="0" y="90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42109" r="-16" b="-4210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3237014" y="2109140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999" r="-3999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Freeform 9" descr="preencoded.png"/>
          <p:cNvSpPr/>
          <p:nvPr/>
        </p:nvSpPr>
        <p:spPr>
          <a:xfrm>
            <a:off x="8693496" y="2199704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333" b="-3333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 descr="preencoded.png"/>
          <p:cNvSpPr/>
          <p:nvPr/>
        </p:nvSpPr>
        <p:spPr>
          <a:xfrm>
            <a:off x="14342269" y="2109140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66" r="-2666"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1" name="Group 11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3237014" y="5732364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999" r="-3999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 descr="preencoded.png"/>
          <p:cNvSpPr/>
          <p:nvPr/>
        </p:nvSpPr>
        <p:spPr>
          <a:xfrm>
            <a:off x="8693496" y="5822928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333" b="-3333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5" name="Freeform 15" descr="preencoded.png"/>
          <p:cNvSpPr/>
          <p:nvPr/>
        </p:nvSpPr>
        <p:spPr>
          <a:xfrm>
            <a:off x="14342269" y="5732364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666" r="-2666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6" name="Freeform 16"/>
          <p:cNvSpPr/>
          <p:nvPr/>
        </p:nvSpPr>
        <p:spPr>
          <a:xfrm>
            <a:off x="1162212" y="178975"/>
            <a:ext cx="16480003" cy="9507950"/>
          </a:xfrm>
          <a:custGeom>
            <a:avLst/>
            <a:gdLst/>
            <a:ahLst/>
            <a:cxnLst/>
            <a:rect l="l" t="t" r="r" b="b"/>
            <a:pathLst>
              <a:path w="16480003" h="9507950">
                <a:moveTo>
                  <a:pt x="0" y="0"/>
                </a:moveTo>
                <a:lnTo>
                  <a:pt x="16480003" y="0"/>
                </a:lnTo>
                <a:lnTo>
                  <a:pt x="16480003" y="9507950"/>
                </a:lnTo>
                <a:lnTo>
                  <a:pt x="0" y="9507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7" name="Freeform 17"/>
          <p:cNvSpPr/>
          <p:nvPr/>
        </p:nvSpPr>
        <p:spPr>
          <a:xfrm>
            <a:off x="2008784" y="1728245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1" y="0"/>
                </a:lnTo>
                <a:lnTo>
                  <a:pt x="3696691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8" name="Freeform 18"/>
          <p:cNvSpPr/>
          <p:nvPr/>
        </p:nvSpPr>
        <p:spPr>
          <a:xfrm>
            <a:off x="2165213" y="1920050"/>
            <a:ext cx="3383842" cy="3168082"/>
          </a:xfrm>
          <a:custGeom>
            <a:avLst/>
            <a:gdLst/>
            <a:ahLst/>
            <a:cxnLst/>
            <a:rect l="l" t="t" r="r" b="b"/>
            <a:pathLst>
              <a:path w="3383842" h="3168082">
                <a:moveTo>
                  <a:pt x="0" y="0"/>
                </a:moveTo>
                <a:lnTo>
                  <a:pt x="3383842" y="0"/>
                </a:lnTo>
                <a:lnTo>
                  <a:pt x="3383842" y="3168081"/>
                </a:lnTo>
                <a:lnTo>
                  <a:pt x="0" y="31680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9" name="Freeform 19"/>
          <p:cNvSpPr/>
          <p:nvPr/>
        </p:nvSpPr>
        <p:spPr>
          <a:xfrm>
            <a:off x="3263055" y="1502254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6" y="0"/>
                </a:lnTo>
                <a:lnTo>
                  <a:pt x="1031186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20" name="Group 20"/>
          <p:cNvGrpSpPr/>
          <p:nvPr/>
        </p:nvGrpSpPr>
        <p:grpSpPr>
          <a:xfrm>
            <a:off x="3460566" y="1699765"/>
            <a:ext cx="636165" cy="636165"/>
            <a:chOff x="0" y="0"/>
            <a:chExt cx="848220" cy="8482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8233" cy="848233"/>
            </a:xfrm>
            <a:custGeom>
              <a:avLst/>
              <a:gdLst/>
              <a:ahLst/>
              <a:cxnLst/>
              <a:rect l="l" t="t" r="r" b="b"/>
              <a:pathLst>
                <a:path w="848233" h="848233">
                  <a:moveTo>
                    <a:pt x="0" y="0"/>
                  </a:moveTo>
                  <a:lnTo>
                    <a:pt x="848233" y="0"/>
                  </a:lnTo>
                  <a:lnTo>
                    <a:pt x="848233" y="848233"/>
                  </a:lnTo>
                  <a:lnTo>
                    <a:pt x="0" y="848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1" b="1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2" name="Freeform 22"/>
          <p:cNvSpPr/>
          <p:nvPr/>
        </p:nvSpPr>
        <p:spPr>
          <a:xfrm>
            <a:off x="7457580" y="1728245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0" y="0"/>
                </a:lnTo>
                <a:lnTo>
                  <a:pt x="3696690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3" name="Freeform 23"/>
          <p:cNvSpPr/>
          <p:nvPr/>
        </p:nvSpPr>
        <p:spPr>
          <a:xfrm>
            <a:off x="7613999" y="1920050"/>
            <a:ext cx="3383842" cy="3168082"/>
          </a:xfrm>
          <a:custGeom>
            <a:avLst/>
            <a:gdLst/>
            <a:ahLst/>
            <a:cxnLst/>
            <a:rect l="l" t="t" r="r" b="b"/>
            <a:pathLst>
              <a:path w="3383842" h="3168082">
                <a:moveTo>
                  <a:pt x="0" y="0"/>
                </a:moveTo>
                <a:lnTo>
                  <a:pt x="3383842" y="0"/>
                </a:lnTo>
                <a:lnTo>
                  <a:pt x="3383842" y="3168081"/>
                </a:lnTo>
                <a:lnTo>
                  <a:pt x="0" y="31680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4" name="Freeform 24"/>
          <p:cNvSpPr/>
          <p:nvPr/>
        </p:nvSpPr>
        <p:spPr>
          <a:xfrm>
            <a:off x="8711851" y="1502254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6" y="0"/>
                </a:lnTo>
                <a:lnTo>
                  <a:pt x="1031186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5" name="Freeform 25"/>
          <p:cNvSpPr/>
          <p:nvPr/>
        </p:nvSpPr>
        <p:spPr>
          <a:xfrm>
            <a:off x="12939693" y="1728245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1" y="0"/>
                </a:lnTo>
                <a:lnTo>
                  <a:pt x="3696691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6" name="Freeform 26"/>
          <p:cNvSpPr/>
          <p:nvPr/>
        </p:nvSpPr>
        <p:spPr>
          <a:xfrm>
            <a:off x="13096123" y="1920050"/>
            <a:ext cx="3383842" cy="3168082"/>
          </a:xfrm>
          <a:custGeom>
            <a:avLst/>
            <a:gdLst/>
            <a:ahLst/>
            <a:cxnLst/>
            <a:rect l="l" t="t" r="r" b="b"/>
            <a:pathLst>
              <a:path w="3383842" h="3168082">
                <a:moveTo>
                  <a:pt x="0" y="0"/>
                </a:moveTo>
                <a:lnTo>
                  <a:pt x="3383841" y="0"/>
                </a:lnTo>
                <a:lnTo>
                  <a:pt x="3383841" y="3168081"/>
                </a:lnTo>
                <a:lnTo>
                  <a:pt x="0" y="31680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7" name="Freeform 27"/>
          <p:cNvSpPr/>
          <p:nvPr/>
        </p:nvSpPr>
        <p:spPr>
          <a:xfrm>
            <a:off x="14193964" y="1502254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7" y="0"/>
                </a:lnTo>
                <a:lnTo>
                  <a:pt x="1031187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8" name="Freeform 28"/>
          <p:cNvSpPr/>
          <p:nvPr/>
        </p:nvSpPr>
        <p:spPr>
          <a:xfrm>
            <a:off x="1952882" y="5718258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1" y="0"/>
                </a:lnTo>
                <a:lnTo>
                  <a:pt x="3696691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9" name="Freeform 29"/>
          <p:cNvSpPr/>
          <p:nvPr/>
        </p:nvSpPr>
        <p:spPr>
          <a:xfrm>
            <a:off x="2109311" y="5910062"/>
            <a:ext cx="3383832" cy="3168082"/>
          </a:xfrm>
          <a:custGeom>
            <a:avLst/>
            <a:gdLst/>
            <a:ahLst/>
            <a:cxnLst/>
            <a:rect l="l" t="t" r="r" b="b"/>
            <a:pathLst>
              <a:path w="3383832" h="3168082">
                <a:moveTo>
                  <a:pt x="0" y="0"/>
                </a:moveTo>
                <a:lnTo>
                  <a:pt x="3383833" y="0"/>
                </a:lnTo>
                <a:lnTo>
                  <a:pt x="3383833" y="3168082"/>
                </a:lnTo>
                <a:lnTo>
                  <a:pt x="0" y="31680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0" name="Freeform 30"/>
          <p:cNvSpPr/>
          <p:nvPr/>
        </p:nvSpPr>
        <p:spPr>
          <a:xfrm>
            <a:off x="3207153" y="5492267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6" y="0"/>
                </a:lnTo>
                <a:lnTo>
                  <a:pt x="1031186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1" name="Freeform 31"/>
          <p:cNvSpPr/>
          <p:nvPr/>
        </p:nvSpPr>
        <p:spPr>
          <a:xfrm>
            <a:off x="7401677" y="5718258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1" y="0"/>
                </a:lnTo>
                <a:lnTo>
                  <a:pt x="3696691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2" name="Freeform 32"/>
          <p:cNvSpPr/>
          <p:nvPr/>
        </p:nvSpPr>
        <p:spPr>
          <a:xfrm>
            <a:off x="7558107" y="5910062"/>
            <a:ext cx="3383842" cy="3168082"/>
          </a:xfrm>
          <a:custGeom>
            <a:avLst/>
            <a:gdLst/>
            <a:ahLst/>
            <a:cxnLst/>
            <a:rect l="l" t="t" r="r" b="b"/>
            <a:pathLst>
              <a:path w="3383842" h="3168082">
                <a:moveTo>
                  <a:pt x="0" y="0"/>
                </a:moveTo>
                <a:lnTo>
                  <a:pt x="3383842" y="0"/>
                </a:lnTo>
                <a:lnTo>
                  <a:pt x="3383842" y="3168082"/>
                </a:lnTo>
                <a:lnTo>
                  <a:pt x="0" y="31680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3" name="Freeform 33"/>
          <p:cNvSpPr/>
          <p:nvPr/>
        </p:nvSpPr>
        <p:spPr>
          <a:xfrm>
            <a:off x="8655949" y="5492267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6" y="0"/>
                </a:lnTo>
                <a:lnTo>
                  <a:pt x="1031186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4" name="Freeform 34"/>
          <p:cNvSpPr/>
          <p:nvPr/>
        </p:nvSpPr>
        <p:spPr>
          <a:xfrm>
            <a:off x="12883791" y="5718258"/>
            <a:ext cx="3696691" cy="3540042"/>
          </a:xfrm>
          <a:custGeom>
            <a:avLst/>
            <a:gdLst/>
            <a:ahLst/>
            <a:cxnLst/>
            <a:rect l="l" t="t" r="r" b="b"/>
            <a:pathLst>
              <a:path w="3696691" h="3540042">
                <a:moveTo>
                  <a:pt x="0" y="0"/>
                </a:moveTo>
                <a:lnTo>
                  <a:pt x="3696691" y="0"/>
                </a:lnTo>
                <a:lnTo>
                  <a:pt x="3696691" y="3540042"/>
                </a:lnTo>
                <a:lnTo>
                  <a:pt x="0" y="35400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5" name="Freeform 35"/>
          <p:cNvSpPr/>
          <p:nvPr/>
        </p:nvSpPr>
        <p:spPr>
          <a:xfrm>
            <a:off x="13040220" y="5910062"/>
            <a:ext cx="3383842" cy="3168082"/>
          </a:xfrm>
          <a:custGeom>
            <a:avLst/>
            <a:gdLst/>
            <a:ahLst/>
            <a:cxnLst/>
            <a:rect l="l" t="t" r="r" b="b"/>
            <a:pathLst>
              <a:path w="3383842" h="3168082">
                <a:moveTo>
                  <a:pt x="0" y="0"/>
                </a:moveTo>
                <a:lnTo>
                  <a:pt x="3383842" y="0"/>
                </a:lnTo>
                <a:lnTo>
                  <a:pt x="3383842" y="3168082"/>
                </a:lnTo>
                <a:lnTo>
                  <a:pt x="0" y="31680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6" name="Freeform 36"/>
          <p:cNvSpPr/>
          <p:nvPr/>
        </p:nvSpPr>
        <p:spPr>
          <a:xfrm>
            <a:off x="14138062" y="5492267"/>
            <a:ext cx="1031186" cy="1031186"/>
          </a:xfrm>
          <a:custGeom>
            <a:avLst/>
            <a:gdLst/>
            <a:ahLst/>
            <a:cxnLst/>
            <a:rect l="l" t="t" r="r" b="b"/>
            <a:pathLst>
              <a:path w="1031186" h="1031186">
                <a:moveTo>
                  <a:pt x="0" y="0"/>
                </a:moveTo>
                <a:lnTo>
                  <a:pt x="1031186" y="0"/>
                </a:lnTo>
                <a:lnTo>
                  <a:pt x="1031186" y="1031186"/>
                </a:lnTo>
                <a:lnTo>
                  <a:pt x="0" y="10311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7" name="Group 37"/>
          <p:cNvGrpSpPr/>
          <p:nvPr/>
        </p:nvGrpSpPr>
        <p:grpSpPr>
          <a:xfrm>
            <a:off x="8886787" y="1680200"/>
            <a:ext cx="681304" cy="681304"/>
            <a:chOff x="0" y="0"/>
            <a:chExt cx="908406" cy="9084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08431" cy="908431"/>
            </a:xfrm>
            <a:custGeom>
              <a:avLst/>
              <a:gdLst/>
              <a:ahLst/>
              <a:cxnLst/>
              <a:rect l="l" t="t" r="r" b="b"/>
              <a:pathLst>
                <a:path w="908431" h="908431">
                  <a:moveTo>
                    <a:pt x="0" y="0"/>
                  </a:moveTo>
                  <a:lnTo>
                    <a:pt x="908431" y="0"/>
                  </a:lnTo>
                  <a:lnTo>
                    <a:pt x="908431" y="908431"/>
                  </a:lnTo>
                  <a:lnTo>
                    <a:pt x="0" y="908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2" b="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459407" y="1748123"/>
            <a:ext cx="545449" cy="545449"/>
            <a:chOff x="0" y="0"/>
            <a:chExt cx="727266" cy="72726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7202" cy="727202"/>
            </a:xfrm>
            <a:custGeom>
              <a:avLst/>
              <a:gdLst/>
              <a:ahLst/>
              <a:cxnLst/>
              <a:rect l="l" t="t" r="r" b="b"/>
              <a:pathLst>
                <a:path w="727202" h="727202">
                  <a:moveTo>
                    <a:pt x="0" y="0"/>
                  </a:moveTo>
                  <a:lnTo>
                    <a:pt x="727202" y="0"/>
                  </a:lnTo>
                  <a:lnTo>
                    <a:pt x="727202" y="727202"/>
                  </a:lnTo>
                  <a:lnTo>
                    <a:pt x="0" y="727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8" b="-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41" name="Freeform 41"/>
          <p:cNvSpPr/>
          <p:nvPr/>
        </p:nvSpPr>
        <p:spPr>
          <a:xfrm>
            <a:off x="3367808" y="5680091"/>
            <a:ext cx="681070" cy="688581"/>
          </a:xfrm>
          <a:custGeom>
            <a:avLst/>
            <a:gdLst/>
            <a:ahLst/>
            <a:cxnLst/>
            <a:rect l="l" t="t" r="r" b="b"/>
            <a:pathLst>
              <a:path w="681070" h="688581">
                <a:moveTo>
                  <a:pt x="0" y="0"/>
                </a:moveTo>
                <a:lnTo>
                  <a:pt x="681069" y="0"/>
                </a:lnTo>
                <a:lnTo>
                  <a:pt x="681069" y="688581"/>
                </a:lnTo>
                <a:lnTo>
                  <a:pt x="0" y="68858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2" name="Freeform 42"/>
          <p:cNvSpPr/>
          <p:nvPr/>
        </p:nvSpPr>
        <p:spPr>
          <a:xfrm>
            <a:off x="14336868" y="5557703"/>
            <a:ext cx="611196" cy="830019"/>
          </a:xfrm>
          <a:custGeom>
            <a:avLst/>
            <a:gdLst/>
            <a:ahLst/>
            <a:cxnLst/>
            <a:rect l="l" t="t" r="r" b="b"/>
            <a:pathLst>
              <a:path w="611196" h="830019">
                <a:moveTo>
                  <a:pt x="0" y="0"/>
                </a:moveTo>
                <a:lnTo>
                  <a:pt x="611196" y="0"/>
                </a:lnTo>
                <a:lnTo>
                  <a:pt x="611196" y="830019"/>
                </a:lnTo>
                <a:lnTo>
                  <a:pt x="0" y="83001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3" name="Freeform 43"/>
          <p:cNvSpPr/>
          <p:nvPr/>
        </p:nvSpPr>
        <p:spPr>
          <a:xfrm>
            <a:off x="8778879" y="5617166"/>
            <a:ext cx="730243" cy="781388"/>
          </a:xfrm>
          <a:custGeom>
            <a:avLst/>
            <a:gdLst/>
            <a:ahLst/>
            <a:cxnLst/>
            <a:rect l="l" t="t" r="r" b="b"/>
            <a:pathLst>
              <a:path w="730243" h="781388">
                <a:moveTo>
                  <a:pt x="0" y="0"/>
                </a:moveTo>
                <a:lnTo>
                  <a:pt x="730242" y="0"/>
                </a:lnTo>
                <a:lnTo>
                  <a:pt x="730242" y="781388"/>
                </a:lnTo>
                <a:lnTo>
                  <a:pt x="0" y="78138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2259120" y="3092520"/>
            <a:ext cx="3039056" cy="17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Neyrotarmoq loyiha uchun eng munosib mutaxassislarni avtomatik topib beradi.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70949" y="2483434"/>
            <a:ext cx="5015389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AI Saralash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86392" y="3123990"/>
            <a:ext cx="3039056" cy="17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Mablag'lar kafolatlanadi. Ish muvaffaqiyatli topshirilgachgina pul o'tkaziladi.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19745" y="2483434"/>
            <a:ext cx="5015389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Escrow Tizimi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68506" y="3121533"/>
            <a:ext cx="3039056" cy="1317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UzCard va Humo orqali to'g'ridan-to'g'ri, yashirin komissiyalarsiz to'lovlar.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280344" y="2483434"/>
            <a:ext cx="5015389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Milliy to'lovlar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203218" y="7082533"/>
            <a:ext cx="3039056" cy="17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Shaxsni majburiy tasdiqlash (KYC) orqali firibgarlik (scam) xavfi yo'q qilinadi.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00208" y="6473447"/>
            <a:ext cx="2584932" cy="552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 dirty="0" err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Ishonchlilik</a:t>
            </a:r>
            <a:endParaRPr lang="en-US" sz="3500" b="1" dirty="0">
              <a:solidFill>
                <a:srgbClr val="38BDF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730500" y="7114003"/>
            <a:ext cx="3039056" cy="174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Kompaniyalar uchun elektron shartnomalar va qonuniy hamkorlik infratuzilmasi.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77895" y="6473447"/>
            <a:ext cx="5015389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B2B qulayliklar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212604" y="7082533"/>
            <a:ext cx="3039056" cy="1317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00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O'zbek tilidagi qulay interfeys va mahalliy bozor mentalitetiga moslashuv.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24442" y="6473447"/>
            <a:ext cx="5015389" cy="57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Lokalizatsiya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975546" y="606752"/>
            <a:ext cx="8144618" cy="85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6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Bizning yechim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7212" y="-94326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3400" y="1524000"/>
            <a:ext cx="7086600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6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Bozor Tahlili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4797" y="2946397"/>
            <a:ext cx="4394197" cy="4394197"/>
            <a:chOff x="0" y="0"/>
            <a:chExt cx="5858929" cy="585892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5825109" cy="5825109"/>
            </a:xfrm>
            <a:custGeom>
              <a:avLst/>
              <a:gdLst/>
              <a:ahLst/>
              <a:cxnLst/>
              <a:rect l="l" t="t" r="r" b="b"/>
              <a:pathLst>
                <a:path w="5825109" h="5825109">
                  <a:moveTo>
                    <a:pt x="0" y="2912618"/>
                  </a:moveTo>
                  <a:cubicBezTo>
                    <a:pt x="0" y="1304036"/>
                    <a:pt x="1304036" y="0"/>
                    <a:pt x="2912618" y="0"/>
                  </a:cubicBezTo>
                  <a:cubicBezTo>
                    <a:pt x="4521200" y="0"/>
                    <a:pt x="5825109" y="1304036"/>
                    <a:pt x="5825109" y="2912618"/>
                  </a:cubicBezTo>
                  <a:cubicBezTo>
                    <a:pt x="5825109" y="4521200"/>
                    <a:pt x="4521073" y="5825109"/>
                    <a:pt x="2912618" y="5825109"/>
                  </a:cubicBezTo>
                  <a:cubicBezTo>
                    <a:pt x="1304163" y="5825109"/>
                    <a:pt x="0" y="4521073"/>
                    <a:pt x="0" y="2912618"/>
                  </a:cubicBezTo>
                  <a:close/>
                </a:path>
              </a:pathLst>
            </a:custGeom>
            <a:gradFill rotWithShape="1">
              <a:gsLst>
                <a:gs pos="0">
                  <a:srgbClr val="172D45">
                    <a:alpha val="100000"/>
                  </a:srgbClr>
                </a:gs>
                <a:gs pos="0">
                  <a:srgbClr val="172D45">
                    <a:alpha val="100000"/>
                  </a:srgbClr>
                </a:gs>
                <a:gs pos="39000">
                  <a:srgbClr val="173049">
                    <a:alpha val="100000"/>
                  </a:srgbClr>
                </a:gs>
                <a:gs pos="74000">
                  <a:srgbClr val="173049">
                    <a:alpha val="100000"/>
                  </a:srgbClr>
                </a:gs>
                <a:gs pos="82000">
                  <a:srgbClr val="121A2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858891" cy="5859018"/>
            </a:xfrm>
            <a:custGeom>
              <a:avLst/>
              <a:gdLst/>
              <a:ahLst/>
              <a:cxnLst/>
              <a:rect l="l" t="t" r="r" b="b"/>
              <a:pathLst>
                <a:path w="5858891" h="5859018">
                  <a:moveTo>
                    <a:pt x="0" y="2929509"/>
                  </a:moveTo>
                  <a:cubicBezTo>
                    <a:pt x="0" y="1311529"/>
                    <a:pt x="1311529" y="0"/>
                    <a:pt x="2929509" y="0"/>
                  </a:cubicBezTo>
                  <a:lnTo>
                    <a:pt x="2929509" y="16891"/>
                  </a:lnTo>
                  <a:lnTo>
                    <a:pt x="2929509" y="0"/>
                  </a:lnTo>
                  <a:cubicBezTo>
                    <a:pt x="4547362" y="0"/>
                    <a:pt x="5858891" y="1311529"/>
                    <a:pt x="5858891" y="2929509"/>
                  </a:cubicBezTo>
                  <a:lnTo>
                    <a:pt x="5842000" y="2929509"/>
                  </a:lnTo>
                  <a:lnTo>
                    <a:pt x="5858891" y="2929509"/>
                  </a:lnTo>
                  <a:cubicBezTo>
                    <a:pt x="5858891" y="4547362"/>
                    <a:pt x="4547362" y="5859018"/>
                    <a:pt x="2929382" y="5859018"/>
                  </a:cubicBezTo>
                  <a:lnTo>
                    <a:pt x="2929382" y="5842000"/>
                  </a:lnTo>
                  <a:lnTo>
                    <a:pt x="2929382" y="5858891"/>
                  </a:lnTo>
                  <a:cubicBezTo>
                    <a:pt x="1311529" y="5858891"/>
                    <a:pt x="0" y="4547362"/>
                    <a:pt x="0" y="2929509"/>
                  </a:cubicBezTo>
                  <a:lnTo>
                    <a:pt x="16891" y="2929509"/>
                  </a:lnTo>
                  <a:lnTo>
                    <a:pt x="33909" y="2929509"/>
                  </a:lnTo>
                  <a:lnTo>
                    <a:pt x="16891" y="2929509"/>
                  </a:lnTo>
                  <a:lnTo>
                    <a:pt x="0" y="2929509"/>
                  </a:lnTo>
                  <a:moveTo>
                    <a:pt x="33909" y="2929509"/>
                  </a:moveTo>
                  <a:cubicBezTo>
                    <a:pt x="33909" y="2938907"/>
                    <a:pt x="26289" y="2946400"/>
                    <a:pt x="17018" y="2946400"/>
                  </a:cubicBezTo>
                  <a:cubicBezTo>
                    <a:pt x="7747" y="2946400"/>
                    <a:pt x="0" y="2938780"/>
                    <a:pt x="0" y="2929509"/>
                  </a:cubicBezTo>
                  <a:cubicBezTo>
                    <a:pt x="0" y="2920238"/>
                    <a:pt x="7620" y="2912618"/>
                    <a:pt x="16891" y="2912618"/>
                  </a:cubicBezTo>
                  <a:cubicBezTo>
                    <a:pt x="26162" y="2912618"/>
                    <a:pt x="33782" y="2920238"/>
                    <a:pt x="33782" y="2929509"/>
                  </a:cubicBezTo>
                  <a:cubicBezTo>
                    <a:pt x="33782" y="4528693"/>
                    <a:pt x="1330198" y="5825109"/>
                    <a:pt x="2929382" y="5825109"/>
                  </a:cubicBezTo>
                  <a:cubicBezTo>
                    <a:pt x="4528566" y="5825109"/>
                    <a:pt x="5824982" y="4528693"/>
                    <a:pt x="5824982" y="2929509"/>
                  </a:cubicBezTo>
                  <a:cubicBezTo>
                    <a:pt x="5824982" y="1330325"/>
                    <a:pt x="4528566" y="33909"/>
                    <a:pt x="2929382" y="33909"/>
                  </a:cubicBezTo>
                  <a:lnTo>
                    <a:pt x="2929382" y="16891"/>
                  </a:lnTo>
                  <a:lnTo>
                    <a:pt x="2929382" y="33909"/>
                  </a:lnTo>
                  <a:cubicBezTo>
                    <a:pt x="1330198" y="33909"/>
                    <a:pt x="33782" y="1330325"/>
                    <a:pt x="33782" y="292950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995755" y="3164843"/>
            <a:ext cx="1552299" cy="680723"/>
            <a:chOff x="0" y="0"/>
            <a:chExt cx="2069732" cy="9076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69727" cy="907627"/>
            </a:xfrm>
            <a:custGeom>
              <a:avLst/>
              <a:gdLst/>
              <a:ahLst/>
              <a:cxnLst/>
              <a:rect l="l" t="t" r="r" b="b"/>
              <a:pathLst>
                <a:path w="2069727" h="907627">
                  <a:moveTo>
                    <a:pt x="0" y="0"/>
                  </a:moveTo>
                  <a:lnTo>
                    <a:pt x="2069727" y="0"/>
                  </a:lnTo>
                  <a:lnTo>
                    <a:pt x="2069727" y="907627"/>
                  </a:lnTo>
                  <a:lnTo>
                    <a:pt x="0" y="9076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264" r="-6264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069732" cy="92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52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TAM $3B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20903" y="4038600"/>
            <a:ext cx="3302003" cy="3302003"/>
            <a:chOff x="0" y="0"/>
            <a:chExt cx="4402671" cy="440267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4368800" cy="4368800"/>
            </a:xfrm>
            <a:custGeom>
              <a:avLst/>
              <a:gdLst/>
              <a:ahLst/>
              <a:cxnLst/>
              <a:rect l="l" t="t" r="r" b="b"/>
              <a:pathLst>
                <a:path w="4368800" h="4368800">
                  <a:moveTo>
                    <a:pt x="0" y="2184400"/>
                  </a:moveTo>
                  <a:cubicBezTo>
                    <a:pt x="0" y="978027"/>
                    <a:pt x="978027" y="0"/>
                    <a:pt x="2184400" y="0"/>
                  </a:cubicBezTo>
                  <a:cubicBezTo>
                    <a:pt x="3390773" y="0"/>
                    <a:pt x="4368800" y="978027"/>
                    <a:pt x="4368800" y="2184400"/>
                  </a:cubicBezTo>
                  <a:cubicBezTo>
                    <a:pt x="4368800" y="3390773"/>
                    <a:pt x="3390773" y="4368800"/>
                    <a:pt x="2184400" y="4368800"/>
                  </a:cubicBezTo>
                  <a:cubicBezTo>
                    <a:pt x="978027" y="4368800"/>
                    <a:pt x="0" y="3390773"/>
                    <a:pt x="0" y="21844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72D45">
                    <a:alpha val="100000"/>
                  </a:srgbClr>
                </a:gs>
                <a:gs pos="0">
                  <a:srgbClr val="172D45">
                    <a:alpha val="100000"/>
                  </a:srgbClr>
                </a:gs>
                <a:gs pos="39000">
                  <a:srgbClr val="44A8EC">
                    <a:alpha val="18000"/>
                  </a:srgbClr>
                </a:gs>
                <a:gs pos="74000">
                  <a:srgbClr val="28759F">
                    <a:alpha val="100000"/>
                  </a:srgbClr>
                </a:gs>
                <a:gs pos="82000">
                  <a:srgbClr val="172D4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4402582" cy="4402582"/>
            </a:xfrm>
            <a:custGeom>
              <a:avLst/>
              <a:gdLst/>
              <a:ahLst/>
              <a:cxnLst/>
              <a:rect l="l" t="t" r="r" b="b"/>
              <a:pathLst>
                <a:path w="4402582" h="4402582">
                  <a:moveTo>
                    <a:pt x="0" y="2201291"/>
                  </a:moveTo>
                  <a:cubicBezTo>
                    <a:pt x="0" y="985520"/>
                    <a:pt x="985520" y="0"/>
                    <a:pt x="2201291" y="0"/>
                  </a:cubicBezTo>
                  <a:lnTo>
                    <a:pt x="2201291" y="16891"/>
                  </a:lnTo>
                  <a:lnTo>
                    <a:pt x="2201291" y="0"/>
                  </a:lnTo>
                  <a:cubicBezTo>
                    <a:pt x="3417062" y="0"/>
                    <a:pt x="4402582" y="985520"/>
                    <a:pt x="4402582" y="2201291"/>
                  </a:cubicBezTo>
                  <a:lnTo>
                    <a:pt x="4385691" y="2201291"/>
                  </a:lnTo>
                  <a:lnTo>
                    <a:pt x="4402582" y="2201291"/>
                  </a:lnTo>
                  <a:cubicBezTo>
                    <a:pt x="4402582" y="3417062"/>
                    <a:pt x="3417062" y="4402582"/>
                    <a:pt x="2201291" y="4402582"/>
                  </a:cubicBezTo>
                  <a:lnTo>
                    <a:pt x="2201291" y="4385691"/>
                  </a:lnTo>
                  <a:lnTo>
                    <a:pt x="2201291" y="4402582"/>
                  </a:lnTo>
                  <a:cubicBezTo>
                    <a:pt x="985520" y="4402709"/>
                    <a:pt x="0" y="3417062"/>
                    <a:pt x="0" y="2201291"/>
                  </a:cubicBezTo>
                  <a:lnTo>
                    <a:pt x="16891" y="2201291"/>
                  </a:lnTo>
                  <a:lnTo>
                    <a:pt x="33909" y="2201291"/>
                  </a:lnTo>
                  <a:lnTo>
                    <a:pt x="16891" y="2201291"/>
                  </a:lnTo>
                  <a:lnTo>
                    <a:pt x="0" y="2201291"/>
                  </a:lnTo>
                  <a:moveTo>
                    <a:pt x="33909" y="2201291"/>
                  </a:moveTo>
                  <a:cubicBezTo>
                    <a:pt x="33909" y="2210689"/>
                    <a:pt x="26289" y="2218182"/>
                    <a:pt x="17018" y="2218182"/>
                  </a:cubicBezTo>
                  <a:cubicBezTo>
                    <a:pt x="7747" y="2218182"/>
                    <a:pt x="0" y="2210689"/>
                    <a:pt x="0" y="2201291"/>
                  </a:cubicBezTo>
                  <a:cubicBezTo>
                    <a:pt x="0" y="2191893"/>
                    <a:pt x="7620" y="2184400"/>
                    <a:pt x="16891" y="2184400"/>
                  </a:cubicBezTo>
                  <a:cubicBezTo>
                    <a:pt x="26162" y="2184400"/>
                    <a:pt x="33782" y="2192020"/>
                    <a:pt x="33782" y="2201291"/>
                  </a:cubicBezTo>
                  <a:cubicBezTo>
                    <a:pt x="33909" y="3398393"/>
                    <a:pt x="1004316" y="4368800"/>
                    <a:pt x="2201291" y="4368800"/>
                  </a:cubicBezTo>
                  <a:cubicBezTo>
                    <a:pt x="3398393" y="4368800"/>
                    <a:pt x="4368800" y="3398393"/>
                    <a:pt x="4368800" y="2201291"/>
                  </a:cubicBezTo>
                  <a:cubicBezTo>
                    <a:pt x="4368800" y="1004316"/>
                    <a:pt x="3398393" y="33909"/>
                    <a:pt x="2201291" y="33909"/>
                  </a:cubicBezTo>
                  <a:lnTo>
                    <a:pt x="2201291" y="16891"/>
                  </a:lnTo>
                  <a:lnTo>
                    <a:pt x="2201291" y="33909"/>
                  </a:lnTo>
                  <a:cubicBezTo>
                    <a:pt x="1004316" y="33909"/>
                    <a:pt x="33909" y="1004316"/>
                    <a:pt x="33909" y="220129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95755" y="4243388"/>
            <a:ext cx="1552299" cy="639766"/>
            <a:chOff x="0" y="0"/>
            <a:chExt cx="2069732" cy="8530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9727" cy="853016"/>
            </a:xfrm>
            <a:custGeom>
              <a:avLst/>
              <a:gdLst/>
              <a:ahLst/>
              <a:cxnLst/>
              <a:rect l="l" t="t" r="r" b="b"/>
              <a:pathLst>
                <a:path w="2069727" h="853016">
                  <a:moveTo>
                    <a:pt x="0" y="0"/>
                  </a:moveTo>
                  <a:lnTo>
                    <a:pt x="2069727" y="0"/>
                  </a:lnTo>
                  <a:lnTo>
                    <a:pt x="2069727" y="853016"/>
                  </a:lnTo>
                  <a:lnTo>
                    <a:pt x="0" y="8530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9" r="-2879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069732" cy="8720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52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 $600M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5130803"/>
            <a:ext cx="2209800" cy="2209800"/>
            <a:chOff x="0" y="0"/>
            <a:chExt cx="2946400" cy="2946400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2912618" cy="2912618"/>
            </a:xfrm>
            <a:custGeom>
              <a:avLst/>
              <a:gdLst/>
              <a:ahLst/>
              <a:cxnLst/>
              <a:rect l="l" t="t" r="r" b="b"/>
              <a:pathLst>
                <a:path w="2912618" h="2912618">
                  <a:moveTo>
                    <a:pt x="0" y="1456309"/>
                  </a:moveTo>
                  <a:cubicBezTo>
                    <a:pt x="0" y="652018"/>
                    <a:pt x="652018" y="0"/>
                    <a:pt x="1456309" y="0"/>
                  </a:cubicBezTo>
                  <a:cubicBezTo>
                    <a:pt x="2260600" y="0"/>
                    <a:pt x="2912618" y="652018"/>
                    <a:pt x="2912618" y="1456309"/>
                  </a:cubicBezTo>
                  <a:cubicBezTo>
                    <a:pt x="2912618" y="2260600"/>
                    <a:pt x="2260600" y="2912618"/>
                    <a:pt x="1456309" y="2912618"/>
                  </a:cubicBezTo>
                  <a:cubicBezTo>
                    <a:pt x="652018" y="2912618"/>
                    <a:pt x="0" y="2260600"/>
                    <a:pt x="0" y="1456309"/>
                  </a:cubicBezTo>
                  <a:close/>
                </a:path>
              </a:pathLst>
            </a:custGeom>
            <a:gradFill rotWithShape="1">
              <a:gsLst>
                <a:gs pos="0">
                  <a:srgbClr val="147099">
                    <a:alpha val="100000"/>
                  </a:srgbClr>
                </a:gs>
                <a:gs pos="50000">
                  <a:srgbClr val="21A3DD">
                    <a:alpha val="100000"/>
                  </a:srgbClr>
                </a:gs>
                <a:gs pos="100000">
                  <a:srgbClr val="31C0FF">
                    <a:alpha val="10000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2946400" cy="2946400"/>
            </a:xfrm>
            <a:custGeom>
              <a:avLst/>
              <a:gdLst/>
              <a:ahLst/>
              <a:cxnLst/>
              <a:rect l="l" t="t" r="r" b="b"/>
              <a:pathLst>
                <a:path w="2946400" h="2946400">
                  <a:moveTo>
                    <a:pt x="0" y="1473200"/>
                  </a:moveTo>
                  <a:cubicBezTo>
                    <a:pt x="0" y="659511"/>
                    <a:pt x="659511" y="0"/>
                    <a:pt x="1473200" y="0"/>
                  </a:cubicBezTo>
                  <a:lnTo>
                    <a:pt x="1473200" y="16891"/>
                  </a:lnTo>
                  <a:lnTo>
                    <a:pt x="1473200" y="0"/>
                  </a:lnTo>
                  <a:cubicBezTo>
                    <a:pt x="2286889" y="0"/>
                    <a:pt x="2946400" y="659511"/>
                    <a:pt x="2946400" y="1473200"/>
                  </a:cubicBezTo>
                  <a:lnTo>
                    <a:pt x="2929509" y="1473200"/>
                  </a:lnTo>
                  <a:lnTo>
                    <a:pt x="2946400" y="1473200"/>
                  </a:lnTo>
                  <a:cubicBezTo>
                    <a:pt x="2946400" y="2286889"/>
                    <a:pt x="2286889" y="2946400"/>
                    <a:pt x="1473200" y="2946400"/>
                  </a:cubicBezTo>
                  <a:lnTo>
                    <a:pt x="1473200" y="2929509"/>
                  </a:lnTo>
                  <a:lnTo>
                    <a:pt x="1473200" y="2946400"/>
                  </a:lnTo>
                  <a:cubicBezTo>
                    <a:pt x="659511" y="2946400"/>
                    <a:pt x="0" y="2286889"/>
                    <a:pt x="0" y="1473200"/>
                  </a:cubicBezTo>
                  <a:lnTo>
                    <a:pt x="16891" y="1473200"/>
                  </a:lnTo>
                  <a:lnTo>
                    <a:pt x="33909" y="1473200"/>
                  </a:lnTo>
                  <a:lnTo>
                    <a:pt x="16891" y="1473200"/>
                  </a:lnTo>
                  <a:lnTo>
                    <a:pt x="0" y="1473200"/>
                  </a:lnTo>
                  <a:moveTo>
                    <a:pt x="33909" y="1473200"/>
                  </a:moveTo>
                  <a:cubicBezTo>
                    <a:pt x="33909" y="1482598"/>
                    <a:pt x="26289" y="1490091"/>
                    <a:pt x="17018" y="1490091"/>
                  </a:cubicBezTo>
                  <a:cubicBezTo>
                    <a:pt x="7747" y="1490091"/>
                    <a:pt x="0" y="1482598"/>
                    <a:pt x="0" y="1473200"/>
                  </a:cubicBezTo>
                  <a:cubicBezTo>
                    <a:pt x="0" y="1463802"/>
                    <a:pt x="7620" y="1456309"/>
                    <a:pt x="16891" y="1456309"/>
                  </a:cubicBezTo>
                  <a:cubicBezTo>
                    <a:pt x="26162" y="1456309"/>
                    <a:pt x="33782" y="1463929"/>
                    <a:pt x="33782" y="1473200"/>
                  </a:cubicBezTo>
                  <a:cubicBezTo>
                    <a:pt x="33782" y="2268093"/>
                    <a:pt x="678180" y="2912491"/>
                    <a:pt x="1473073" y="2912491"/>
                  </a:cubicBezTo>
                  <a:cubicBezTo>
                    <a:pt x="2267966" y="2912491"/>
                    <a:pt x="2912364" y="2268093"/>
                    <a:pt x="2912364" y="1473200"/>
                  </a:cubicBezTo>
                  <a:cubicBezTo>
                    <a:pt x="2912491" y="678307"/>
                    <a:pt x="2268093" y="33909"/>
                    <a:pt x="1473200" y="33909"/>
                  </a:cubicBezTo>
                  <a:lnTo>
                    <a:pt x="1473200" y="16891"/>
                  </a:lnTo>
                  <a:lnTo>
                    <a:pt x="1473200" y="33909"/>
                  </a:lnTo>
                  <a:cubicBezTo>
                    <a:pt x="678307" y="33909"/>
                    <a:pt x="33909" y="678307"/>
                    <a:pt x="33909" y="1473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86897" y="5676900"/>
            <a:ext cx="1570006" cy="1117597"/>
            <a:chOff x="0" y="0"/>
            <a:chExt cx="2093341" cy="14901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93339" cy="1490133"/>
            </a:xfrm>
            <a:custGeom>
              <a:avLst/>
              <a:gdLst/>
              <a:ahLst/>
              <a:cxnLst/>
              <a:rect l="l" t="t" r="r" b="b"/>
              <a:pathLst>
                <a:path w="2093339" h="1490133">
                  <a:moveTo>
                    <a:pt x="0" y="0"/>
                  </a:moveTo>
                  <a:lnTo>
                    <a:pt x="2093339" y="0"/>
                  </a:lnTo>
                  <a:lnTo>
                    <a:pt x="2093339" y="1490133"/>
                  </a:lnTo>
                  <a:lnTo>
                    <a:pt x="0" y="14901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1331" r="-41332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093341" cy="1509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52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 $50M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34121" y="2531450"/>
            <a:ext cx="9017003" cy="4978403"/>
            <a:chOff x="0" y="0"/>
            <a:chExt cx="12022671" cy="663787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1988927" cy="6604000"/>
            </a:xfrm>
            <a:custGeom>
              <a:avLst/>
              <a:gdLst/>
              <a:ahLst/>
              <a:cxnLst/>
              <a:rect l="l" t="t" r="r" b="b"/>
              <a:pathLst>
                <a:path w="11988927" h="6604000">
                  <a:moveTo>
                    <a:pt x="0" y="1100709"/>
                  </a:moveTo>
                  <a:cubicBezTo>
                    <a:pt x="0" y="492887"/>
                    <a:pt x="494030" y="0"/>
                    <a:pt x="1103249" y="0"/>
                  </a:cubicBezTo>
                  <a:lnTo>
                    <a:pt x="10885678" y="0"/>
                  </a:lnTo>
                  <a:cubicBezTo>
                    <a:pt x="11495023" y="0"/>
                    <a:pt x="11988927" y="492760"/>
                    <a:pt x="11988927" y="1100709"/>
                  </a:cubicBezTo>
                  <a:lnTo>
                    <a:pt x="11988927" y="5503291"/>
                  </a:lnTo>
                  <a:cubicBezTo>
                    <a:pt x="11988927" y="6111240"/>
                    <a:pt x="11495023" y="6604000"/>
                    <a:pt x="10885678" y="6604000"/>
                  </a:cubicBezTo>
                  <a:lnTo>
                    <a:pt x="1103249" y="6604000"/>
                  </a:lnTo>
                  <a:cubicBezTo>
                    <a:pt x="493903" y="6604000"/>
                    <a:pt x="0" y="6111240"/>
                    <a:pt x="0" y="5503291"/>
                  </a:cubicBezTo>
                  <a:close/>
                </a:path>
              </a:pathLst>
            </a:custGeom>
            <a:solidFill>
              <a:srgbClr val="0E0A2B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2022709" cy="6637782"/>
            </a:xfrm>
            <a:custGeom>
              <a:avLst/>
              <a:gdLst/>
              <a:ahLst/>
              <a:cxnLst/>
              <a:rect l="l" t="t" r="r" b="b"/>
              <a:pathLst>
                <a:path w="12022709" h="6637782">
                  <a:moveTo>
                    <a:pt x="0" y="1117600"/>
                  </a:moveTo>
                  <a:cubicBezTo>
                    <a:pt x="0" y="500380"/>
                    <a:pt x="501523" y="0"/>
                    <a:pt x="1120140" y="0"/>
                  </a:cubicBezTo>
                  <a:lnTo>
                    <a:pt x="10902569" y="0"/>
                  </a:lnTo>
                  <a:lnTo>
                    <a:pt x="10902569" y="16891"/>
                  </a:lnTo>
                  <a:lnTo>
                    <a:pt x="10902569" y="0"/>
                  </a:lnTo>
                  <a:cubicBezTo>
                    <a:pt x="11521186" y="0"/>
                    <a:pt x="12022709" y="500380"/>
                    <a:pt x="12022709" y="1117600"/>
                  </a:cubicBezTo>
                  <a:lnTo>
                    <a:pt x="12005818" y="1117600"/>
                  </a:lnTo>
                  <a:lnTo>
                    <a:pt x="12022709" y="1117600"/>
                  </a:lnTo>
                  <a:lnTo>
                    <a:pt x="12022709" y="5520182"/>
                  </a:lnTo>
                  <a:lnTo>
                    <a:pt x="12005818" y="5520182"/>
                  </a:lnTo>
                  <a:lnTo>
                    <a:pt x="12022709" y="5520182"/>
                  </a:lnTo>
                  <a:cubicBezTo>
                    <a:pt x="12022709" y="6137402"/>
                    <a:pt x="11521186" y="6637782"/>
                    <a:pt x="10902569" y="6637782"/>
                  </a:cubicBezTo>
                  <a:lnTo>
                    <a:pt x="10902569" y="6620891"/>
                  </a:lnTo>
                  <a:lnTo>
                    <a:pt x="10902569" y="6637782"/>
                  </a:lnTo>
                  <a:lnTo>
                    <a:pt x="1120140" y="6637782"/>
                  </a:lnTo>
                  <a:lnTo>
                    <a:pt x="1120140" y="6620891"/>
                  </a:lnTo>
                  <a:lnTo>
                    <a:pt x="1120140" y="6637782"/>
                  </a:lnTo>
                  <a:cubicBezTo>
                    <a:pt x="501523" y="6637782"/>
                    <a:pt x="0" y="6137402"/>
                    <a:pt x="0" y="5520182"/>
                  </a:cubicBezTo>
                  <a:lnTo>
                    <a:pt x="0" y="1117600"/>
                  </a:lnTo>
                  <a:lnTo>
                    <a:pt x="16891" y="1117600"/>
                  </a:lnTo>
                  <a:lnTo>
                    <a:pt x="0" y="1117600"/>
                  </a:lnTo>
                  <a:moveTo>
                    <a:pt x="33909" y="1117600"/>
                  </a:moveTo>
                  <a:lnTo>
                    <a:pt x="33909" y="5520182"/>
                  </a:lnTo>
                  <a:lnTo>
                    <a:pt x="16891" y="5520182"/>
                  </a:lnTo>
                  <a:lnTo>
                    <a:pt x="33909" y="5520182"/>
                  </a:lnTo>
                  <a:cubicBezTo>
                    <a:pt x="33909" y="6118733"/>
                    <a:pt x="520192" y="6604000"/>
                    <a:pt x="1120140" y="6604000"/>
                  </a:cubicBezTo>
                  <a:lnTo>
                    <a:pt x="10902569" y="6604000"/>
                  </a:lnTo>
                  <a:cubicBezTo>
                    <a:pt x="11502517" y="6604000"/>
                    <a:pt x="11988800" y="6118733"/>
                    <a:pt x="11988800" y="5520182"/>
                  </a:cubicBezTo>
                  <a:lnTo>
                    <a:pt x="11988800" y="1117600"/>
                  </a:lnTo>
                  <a:cubicBezTo>
                    <a:pt x="11988800" y="519049"/>
                    <a:pt x="11502517" y="33782"/>
                    <a:pt x="10902569" y="33782"/>
                  </a:cubicBezTo>
                  <a:lnTo>
                    <a:pt x="1120140" y="33782"/>
                  </a:lnTo>
                  <a:lnTo>
                    <a:pt x="1120140" y="16891"/>
                  </a:lnTo>
                  <a:lnTo>
                    <a:pt x="1120140" y="33909"/>
                  </a:lnTo>
                  <a:cubicBezTo>
                    <a:pt x="520192" y="33909"/>
                    <a:pt x="33909" y="519176"/>
                    <a:pt x="33909" y="1117600"/>
                  </a:cubicBez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15903" y="8026403"/>
            <a:ext cx="7112003" cy="1016003"/>
            <a:chOff x="0" y="0"/>
            <a:chExt cx="9482671" cy="1354671"/>
          </a:xfrm>
        </p:grpSpPr>
        <p:sp>
          <p:nvSpPr>
            <p:cNvPr id="34" name="Freeform 34"/>
            <p:cNvSpPr/>
            <p:nvPr/>
          </p:nvSpPr>
          <p:spPr>
            <a:xfrm>
              <a:off x="16891" y="17018"/>
              <a:ext cx="9448800" cy="1320673"/>
            </a:xfrm>
            <a:custGeom>
              <a:avLst/>
              <a:gdLst/>
              <a:ahLst/>
              <a:cxnLst/>
              <a:rect l="l" t="t" r="r" b="b"/>
              <a:pathLst>
                <a:path w="9448800" h="1320673">
                  <a:moveTo>
                    <a:pt x="0" y="220091"/>
                  </a:moveTo>
                  <a:cubicBezTo>
                    <a:pt x="0" y="98552"/>
                    <a:pt x="100711" y="0"/>
                    <a:pt x="224917" y="0"/>
                  </a:cubicBezTo>
                  <a:lnTo>
                    <a:pt x="9223883" y="0"/>
                  </a:lnTo>
                  <a:cubicBezTo>
                    <a:pt x="9348089" y="0"/>
                    <a:pt x="9448800" y="98552"/>
                    <a:pt x="9448800" y="220091"/>
                  </a:cubicBezTo>
                  <a:lnTo>
                    <a:pt x="9448800" y="1100582"/>
                  </a:lnTo>
                  <a:cubicBezTo>
                    <a:pt x="9448800" y="1222121"/>
                    <a:pt x="9348089" y="1320673"/>
                    <a:pt x="9223883" y="1320673"/>
                  </a:cubicBezTo>
                  <a:lnTo>
                    <a:pt x="225044" y="1320673"/>
                  </a:lnTo>
                  <a:cubicBezTo>
                    <a:pt x="100711" y="1320673"/>
                    <a:pt x="0" y="1222121"/>
                    <a:pt x="0" y="1100582"/>
                  </a:cubicBezTo>
                  <a:close/>
                </a:path>
              </a:pathLst>
            </a:custGeom>
            <a:solidFill>
              <a:srgbClr val="0E0A2B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9482709" cy="1354709"/>
            </a:xfrm>
            <a:custGeom>
              <a:avLst/>
              <a:gdLst/>
              <a:ahLst/>
              <a:cxnLst/>
              <a:rect l="l" t="t" r="r" b="b"/>
              <a:pathLst>
                <a:path w="9482709" h="1354709">
                  <a:moveTo>
                    <a:pt x="0" y="237109"/>
                  </a:moveTo>
                  <a:cubicBezTo>
                    <a:pt x="0" y="105791"/>
                    <a:pt x="108712" y="0"/>
                    <a:pt x="241935" y="0"/>
                  </a:cubicBezTo>
                  <a:lnTo>
                    <a:pt x="9240774" y="0"/>
                  </a:lnTo>
                  <a:lnTo>
                    <a:pt x="9240774" y="16891"/>
                  </a:lnTo>
                  <a:lnTo>
                    <a:pt x="9240774" y="0"/>
                  </a:lnTo>
                  <a:cubicBezTo>
                    <a:pt x="9373997" y="0"/>
                    <a:pt x="9482709" y="105791"/>
                    <a:pt x="9482709" y="237109"/>
                  </a:cubicBezTo>
                  <a:lnTo>
                    <a:pt x="9465818" y="237109"/>
                  </a:lnTo>
                  <a:lnTo>
                    <a:pt x="9482709" y="237109"/>
                  </a:lnTo>
                  <a:lnTo>
                    <a:pt x="9482709" y="1117600"/>
                  </a:lnTo>
                  <a:lnTo>
                    <a:pt x="9465818" y="1117600"/>
                  </a:lnTo>
                  <a:lnTo>
                    <a:pt x="9482709" y="1117600"/>
                  </a:lnTo>
                  <a:cubicBezTo>
                    <a:pt x="9482709" y="1248918"/>
                    <a:pt x="9373997" y="1354709"/>
                    <a:pt x="9240774" y="1354709"/>
                  </a:cubicBezTo>
                  <a:lnTo>
                    <a:pt x="9240774" y="1337818"/>
                  </a:lnTo>
                  <a:lnTo>
                    <a:pt x="9240774" y="1354709"/>
                  </a:lnTo>
                  <a:lnTo>
                    <a:pt x="241935" y="1354709"/>
                  </a:lnTo>
                  <a:lnTo>
                    <a:pt x="241935" y="1337818"/>
                  </a:lnTo>
                  <a:lnTo>
                    <a:pt x="241935" y="1354709"/>
                  </a:lnTo>
                  <a:cubicBezTo>
                    <a:pt x="108712" y="1354709"/>
                    <a:pt x="0" y="1248918"/>
                    <a:pt x="0" y="1117600"/>
                  </a:cubicBezTo>
                  <a:lnTo>
                    <a:pt x="0" y="237109"/>
                  </a:lnTo>
                  <a:lnTo>
                    <a:pt x="16891" y="237109"/>
                  </a:lnTo>
                  <a:lnTo>
                    <a:pt x="0" y="237109"/>
                  </a:lnTo>
                  <a:moveTo>
                    <a:pt x="33909" y="237109"/>
                  </a:moveTo>
                  <a:lnTo>
                    <a:pt x="33909" y="1117600"/>
                  </a:lnTo>
                  <a:lnTo>
                    <a:pt x="16891" y="1117600"/>
                  </a:lnTo>
                  <a:lnTo>
                    <a:pt x="33909" y="1117600"/>
                  </a:lnTo>
                  <a:cubicBezTo>
                    <a:pt x="33909" y="1229487"/>
                    <a:pt x="126746" y="1320800"/>
                    <a:pt x="241935" y="1320800"/>
                  </a:cubicBezTo>
                  <a:lnTo>
                    <a:pt x="9240774" y="1320800"/>
                  </a:lnTo>
                  <a:cubicBezTo>
                    <a:pt x="9355963" y="1320800"/>
                    <a:pt x="9448800" y="1229487"/>
                    <a:pt x="9448800" y="1117600"/>
                  </a:cubicBezTo>
                  <a:lnTo>
                    <a:pt x="9448800" y="237109"/>
                  </a:lnTo>
                  <a:cubicBezTo>
                    <a:pt x="9448800" y="125222"/>
                    <a:pt x="9355963" y="33909"/>
                    <a:pt x="9240774" y="33909"/>
                  </a:cubicBezTo>
                  <a:lnTo>
                    <a:pt x="241935" y="33909"/>
                  </a:lnTo>
                  <a:lnTo>
                    <a:pt x="241935" y="16891"/>
                  </a:lnTo>
                  <a:lnTo>
                    <a:pt x="241935" y="33909"/>
                  </a:lnTo>
                  <a:cubicBezTo>
                    <a:pt x="126746" y="33909"/>
                    <a:pt x="33909" y="125222"/>
                    <a:pt x="33909" y="237109"/>
                  </a:cubicBez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482671" cy="1392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 ($50M): Dastlabki 3 yillik faoliyat davomida platforma orqali amalga oshiriladigan tranzaksiyalar aylanmasining (GMV) maqsadli hajmi.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81602" y="8026403"/>
            <a:ext cx="7112003" cy="1016003"/>
            <a:chOff x="0" y="0"/>
            <a:chExt cx="9482671" cy="1354671"/>
          </a:xfrm>
        </p:grpSpPr>
        <p:sp>
          <p:nvSpPr>
            <p:cNvPr id="38" name="Freeform 38"/>
            <p:cNvSpPr/>
            <p:nvPr/>
          </p:nvSpPr>
          <p:spPr>
            <a:xfrm>
              <a:off x="16891" y="17018"/>
              <a:ext cx="9448800" cy="1320673"/>
            </a:xfrm>
            <a:custGeom>
              <a:avLst/>
              <a:gdLst/>
              <a:ahLst/>
              <a:cxnLst/>
              <a:rect l="l" t="t" r="r" b="b"/>
              <a:pathLst>
                <a:path w="9448800" h="1320673">
                  <a:moveTo>
                    <a:pt x="0" y="220091"/>
                  </a:moveTo>
                  <a:cubicBezTo>
                    <a:pt x="0" y="98552"/>
                    <a:pt x="100711" y="0"/>
                    <a:pt x="224917" y="0"/>
                  </a:cubicBezTo>
                  <a:lnTo>
                    <a:pt x="9223883" y="0"/>
                  </a:lnTo>
                  <a:cubicBezTo>
                    <a:pt x="9348089" y="0"/>
                    <a:pt x="9448800" y="98552"/>
                    <a:pt x="9448800" y="220091"/>
                  </a:cubicBezTo>
                  <a:lnTo>
                    <a:pt x="9448800" y="1100582"/>
                  </a:lnTo>
                  <a:cubicBezTo>
                    <a:pt x="9448800" y="1222121"/>
                    <a:pt x="9348089" y="1320673"/>
                    <a:pt x="9223883" y="1320673"/>
                  </a:cubicBezTo>
                  <a:lnTo>
                    <a:pt x="225044" y="1320673"/>
                  </a:lnTo>
                  <a:cubicBezTo>
                    <a:pt x="100711" y="1320673"/>
                    <a:pt x="0" y="1222121"/>
                    <a:pt x="0" y="1100582"/>
                  </a:cubicBezTo>
                  <a:close/>
                </a:path>
              </a:pathLst>
            </a:custGeom>
            <a:solidFill>
              <a:srgbClr val="0E0A2B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9482709" cy="1354709"/>
            </a:xfrm>
            <a:custGeom>
              <a:avLst/>
              <a:gdLst/>
              <a:ahLst/>
              <a:cxnLst/>
              <a:rect l="l" t="t" r="r" b="b"/>
              <a:pathLst>
                <a:path w="9482709" h="1354709">
                  <a:moveTo>
                    <a:pt x="0" y="237109"/>
                  </a:moveTo>
                  <a:cubicBezTo>
                    <a:pt x="0" y="105791"/>
                    <a:pt x="108712" y="0"/>
                    <a:pt x="241935" y="0"/>
                  </a:cubicBezTo>
                  <a:lnTo>
                    <a:pt x="9240774" y="0"/>
                  </a:lnTo>
                  <a:lnTo>
                    <a:pt x="9240774" y="16891"/>
                  </a:lnTo>
                  <a:lnTo>
                    <a:pt x="9240774" y="0"/>
                  </a:lnTo>
                  <a:cubicBezTo>
                    <a:pt x="9373997" y="0"/>
                    <a:pt x="9482709" y="105791"/>
                    <a:pt x="9482709" y="237109"/>
                  </a:cubicBezTo>
                  <a:lnTo>
                    <a:pt x="9465818" y="237109"/>
                  </a:lnTo>
                  <a:lnTo>
                    <a:pt x="9482709" y="237109"/>
                  </a:lnTo>
                  <a:lnTo>
                    <a:pt x="9482709" y="1117600"/>
                  </a:lnTo>
                  <a:lnTo>
                    <a:pt x="9465818" y="1117600"/>
                  </a:lnTo>
                  <a:lnTo>
                    <a:pt x="9482709" y="1117600"/>
                  </a:lnTo>
                  <a:cubicBezTo>
                    <a:pt x="9482709" y="1248918"/>
                    <a:pt x="9373997" y="1354709"/>
                    <a:pt x="9240774" y="1354709"/>
                  </a:cubicBezTo>
                  <a:lnTo>
                    <a:pt x="9240774" y="1337818"/>
                  </a:lnTo>
                  <a:lnTo>
                    <a:pt x="9240774" y="1354709"/>
                  </a:lnTo>
                  <a:lnTo>
                    <a:pt x="241935" y="1354709"/>
                  </a:lnTo>
                  <a:lnTo>
                    <a:pt x="241935" y="1337818"/>
                  </a:lnTo>
                  <a:lnTo>
                    <a:pt x="241935" y="1354709"/>
                  </a:lnTo>
                  <a:cubicBezTo>
                    <a:pt x="108712" y="1354709"/>
                    <a:pt x="0" y="1248918"/>
                    <a:pt x="0" y="1117600"/>
                  </a:cubicBezTo>
                  <a:lnTo>
                    <a:pt x="0" y="237109"/>
                  </a:lnTo>
                  <a:lnTo>
                    <a:pt x="16891" y="237109"/>
                  </a:lnTo>
                  <a:lnTo>
                    <a:pt x="0" y="237109"/>
                  </a:lnTo>
                  <a:moveTo>
                    <a:pt x="33909" y="237109"/>
                  </a:moveTo>
                  <a:lnTo>
                    <a:pt x="33909" y="1117600"/>
                  </a:lnTo>
                  <a:lnTo>
                    <a:pt x="16891" y="1117600"/>
                  </a:lnTo>
                  <a:lnTo>
                    <a:pt x="33909" y="1117600"/>
                  </a:lnTo>
                  <a:cubicBezTo>
                    <a:pt x="33909" y="1229487"/>
                    <a:pt x="126746" y="1320800"/>
                    <a:pt x="241935" y="1320800"/>
                  </a:cubicBezTo>
                  <a:lnTo>
                    <a:pt x="9240774" y="1320800"/>
                  </a:lnTo>
                  <a:cubicBezTo>
                    <a:pt x="9355963" y="1320800"/>
                    <a:pt x="9448800" y="1229487"/>
                    <a:pt x="9448800" y="1117600"/>
                  </a:cubicBezTo>
                  <a:lnTo>
                    <a:pt x="9448800" y="237109"/>
                  </a:lnTo>
                  <a:cubicBezTo>
                    <a:pt x="9448800" y="125222"/>
                    <a:pt x="9355963" y="33909"/>
                    <a:pt x="9240774" y="33909"/>
                  </a:cubicBezTo>
                  <a:lnTo>
                    <a:pt x="241935" y="33909"/>
                  </a:lnTo>
                  <a:lnTo>
                    <a:pt x="241935" y="16891"/>
                  </a:lnTo>
                  <a:lnTo>
                    <a:pt x="241935" y="33909"/>
                  </a:lnTo>
                  <a:cubicBezTo>
                    <a:pt x="126746" y="33909"/>
                    <a:pt x="33909" y="125222"/>
                    <a:pt x="33909" y="237109"/>
                  </a:cubicBez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482671" cy="1392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O'zbekistonda 2.5 mln+ o'zini o'zi band qilgan mutaxassislar mavjud. Bizning strategik maqsadimiz — 2028-yilga kelib mintaqaviy bozorning </a:t>
              </a: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 ulushini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UzWork platformasida birlashtirish.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7462" y="1091346"/>
            <a:ext cx="115938" cy="679714"/>
            <a:chOff x="0" y="0"/>
            <a:chExt cx="154584" cy="906285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154559" cy="906272"/>
            </a:xfrm>
            <a:custGeom>
              <a:avLst/>
              <a:gdLst/>
              <a:ahLst/>
              <a:cxnLst/>
              <a:rect l="l" t="t" r="r" b="b"/>
              <a:pathLst>
                <a:path w="154559" h="906272">
                  <a:moveTo>
                    <a:pt x="0" y="0"/>
                  </a:moveTo>
                  <a:lnTo>
                    <a:pt x="154559" y="0"/>
                  </a:lnTo>
                  <a:lnTo>
                    <a:pt x="154559" y="906272"/>
                  </a:lnTo>
                  <a:lnTo>
                    <a:pt x="0" y="90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2109" r="-16" b="-4210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14912A-31B0-A2A1-9C22-0CC8C4175171}"/>
              </a:ext>
            </a:extLst>
          </p:cNvPr>
          <p:cNvGrpSpPr/>
          <p:nvPr/>
        </p:nvGrpSpPr>
        <p:grpSpPr>
          <a:xfrm>
            <a:off x="8146824" y="2544149"/>
            <a:ext cx="8991600" cy="4953000"/>
            <a:chOff x="8067377" y="1066952"/>
            <a:chExt cx="8991600" cy="4953000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33A1C5D-2F60-F509-3860-34C481DE3E2B}"/>
                </a:ext>
              </a:extLst>
            </p:cNvPr>
            <p:cNvSpPr/>
            <p:nvPr/>
          </p:nvSpPr>
          <p:spPr>
            <a:xfrm>
              <a:off x="8067377" y="1066952"/>
              <a:ext cx="8991600" cy="4953000"/>
            </a:xfrm>
            <a:prstGeom prst="roundRect">
              <a:avLst/>
            </a:prstGeom>
            <a:solidFill>
              <a:srgbClr val="0E0A2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48" name="Chart 47">
              <a:extLst>
                <a:ext uri="{FF2B5EF4-FFF2-40B4-BE49-F238E27FC236}">
                  <a16:creationId xmlns:a16="http://schemas.microsoft.com/office/drawing/2014/main" id="{879A6A61-4A7A-A6A3-00FC-DC44A5168AE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5127076"/>
                </p:ext>
              </p:extLst>
            </p:nvPr>
          </p:nvGraphicFramePr>
          <p:xfrm>
            <a:off x="8409062" y="1275416"/>
            <a:ext cx="8308230" cy="4637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Freeform 6"/>
          <p:cNvSpPr/>
          <p:nvPr/>
        </p:nvSpPr>
        <p:spPr>
          <a:xfrm>
            <a:off x="973188" y="2324100"/>
            <a:ext cx="4665631" cy="3352286"/>
          </a:xfrm>
          <a:custGeom>
            <a:avLst/>
            <a:gdLst/>
            <a:ahLst/>
            <a:cxnLst/>
            <a:rect l="l" t="t" r="r" b="b"/>
            <a:pathLst>
              <a:path w="4665631" h="3352286">
                <a:moveTo>
                  <a:pt x="0" y="0"/>
                </a:moveTo>
                <a:lnTo>
                  <a:pt x="4665631" y="0"/>
                </a:lnTo>
                <a:lnTo>
                  <a:pt x="4665631" y="3352286"/>
                </a:lnTo>
                <a:lnTo>
                  <a:pt x="0" y="3352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7" name="Group 7"/>
          <p:cNvGrpSpPr/>
          <p:nvPr/>
        </p:nvGrpSpPr>
        <p:grpSpPr>
          <a:xfrm>
            <a:off x="954138" y="2378040"/>
            <a:ext cx="152400" cy="3279286"/>
            <a:chOff x="0" y="0"/>
            <a:chExt cx="203200" cy="437238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03200" cy="4372356"/>
            </a:xfrm>
            <a:custGeom>
              <a:avLst/>
              <a:gdLst/>
              <a:ahLst/>
              <a:cxnLst/>
              <a:rect l="l" t="t" r="r" b="b"/>
              <a:pathLst>
                <a:path w="203200" h="4372356">
                  <a:moveTo>
                    <a:pt x="0" y="0"/>
                  </a:moveTo>
                  <a:lnTo>
                    <a:pt x="203200" y="0"/>
                  </a:lnTo>
                  <a:lnTo>
                    <a:pt x="203200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18" r="-4961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9" name="Freeform 9"/>
          <p:cNvSpPr/>
          <p:nvPr/>
        </p:nvSpPr>
        <p:spPr>
          <a:xfrm>
            <a:off x="6820710" y="2378040"/>
            <a:ext cx="4665631" cy="3352286"/>
          </a:xfrm>
          <a:custGeom>
            <a:avLst/>
            <a:gdLst/>
            <a:ahLst/>
            <a:cxnLst/>
            <a:rect l="l" t="t" r="r" b="b"/>
            <a:pathLst>
              <a:path w="4665631" h="3352286">
                <a:moveTo>
                  <a:pt x="0" y="0"/>
                </a:moveTo>
                <a:lnTo>
                  <a:pt x="4665630" y="0"/>
                </a:lnTo>
                <a:lnTo>
                  <a:pt x="4665630" y="3352286"/>
                </a:lnTo>
                <a:lnTo>
                  <a:pt x="0" y="3352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grpSp>
        <p:nvGrpSpPr>
          <p:cNvPr id="10" name="Group 10"/>
          <p:cNvGrpSpPr/>
          <p:nvPr/>
        </p:nvGrpSpPr>
        <p:grpSpPr>
          <a:xfrm>
            <a:off x="6801660" y="2431990"/>
            <a:ext cx="152400" cy="3279286"/>
            <a:chOff x="0" y="0"/>
            <a:chExt cx="203200" cy="437238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03200" cy="4372356"/>
            </a:xfrm>
            <a:custGeom>
              <a:avLst/>
              <a:gdLst/>
              <a:ahLst/>
              <a:cxnLst/>
              <a:rect l="l" t="t" r="r" b="b"/>
              <a:pathLst>
                <a:path w="203200" h="4372356">
                  <a:moveTo>
                    <a:pt x="0" y="0"/>
                  </a:moveTo>
                  <a:lnTo>
                    <a:pt x="203200" y="0"/>
                  </a:lnTo>
                  <a:lnTo>
                    <a:pt x="203200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18" r="-4961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668231" y="2431990"/>
            <a:ext cx="4665631" cy="3352286"/>
          </a:xfrm>
          <a:custGeom>
            <a:avLst/>
            <a:gdLst/>
            <a:ahLst/>
            <a:cxnLst/>
            <a:rect l="l" t="t" r="r" b="b"/>
            <a:pathLst>
              <a:path w="4665631" h="3352286">
                <a:moveTo>
                  <a:pt x="0" y="0"/>
                </a:moveTo>
                <a:lnTo>
                  <a:pt x="4665631" y="0"/>
                </a:lnTo>
                <a:lnTo>
                  <a:pt x="4665631" y="3352285"/>
                </a:lnTo>
                <a:lnTo>
                  <a:pt x="0" y="3352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3" name="Group 13"/>
          <p:cNvGrpSpPr/>
          <p:nvPr/>
        </p:nvGrpSpPr>
        <p:grpSpPr>
          <a:xfrm>
            <a:off x="12649181" y="2485930"/>
            <a:ext cx="152400" cy="3279286"/>
            <a:chOff x="0" y="0"/>
            <a:chExt cx="203200" cy="4372381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203200" cy="4372356"/>
            </a:xfrm>
            <a:custGeom>
              <a:avLst/>
              <a:gdLst/>
              <a:ahLst/>
              <a:cxnLst/>
              <a:rect l="l" t="t" r="r" b="b"/>
              <a:pathLst>
                <a:path w="203200" h="4372356">
                  <a:moveTo>
                    <a:pt x="0" y="0"/>
                  </a:moveTo>
                  <a:lnTo>
                    <a:pt x="203200" y="0"/>
                  </a:lnTo>
                  <a:lnTo>
                    <a:pt x="203200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18" r="-4961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01611" y="6585671"/>
            <a:ext cx="16303828" cy="1955454"/>
          </a:xfrm>
          <a:custGeom>
            <a:avLst/>
            <a:gdLst/>
            <a:ahLst/>
            <a:cxnLst/>
            <a:rect l="l" t="t" r="r" b="b"/>
            <a:pathLst>
              <a:path w="16303828" h="1955454">
                <a:moveTo>
                  <a:pt x="0" y="0"/>
                </a:moveTo>
                <a:lnTo>
                  <a:pt x="16303828" y="0"/>
                </a:lnTo>
                <a:lnTo>
                  <a:pt x="16303828" y="1955454"/>
                </a:lnTo>
                <a:lnTo>
                  <a:pt x="0" y="1955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6" name="Group 16"/>
          <p:cNvGrpSpPr/>
          <p:nvPr/>
        </p:nvGrpSpPr>
        <p:grpSpPr>
          <a:xfrm>
            <a:off x="982561" y="6639611"/>
            <a:ext cx="152400" cy="1880245"/>
            <a:chOff x="0" y="0"/>
            <a:chExt cx="203200" cy="2506993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203200" cy="2506980"/>
            </a:xfrm>
            <a:custGeom>
              <a:avLst/>
              <a:gdLst/>
              <a:ahLst/>
              <a:cxnLst/>
              <a:rect l="l" t="t" r="r" b="b"/>
              <a:pathLst>
                <a:path w="203200" h="2506980">
                  <a:moveTo>
                    <a:pt x="0" y="0"/>
                  </a:moveTo>
                  <a:lnTo>
                    <a:pt x="203200" y="0"/>
                  </a:lnTo>
                  <a:lnTo>
                    <a:pt x="203200" y="2506980"/>
                  </a:lnTo>
                  <a:lnTo>
                    <a:pt x="0" y="2506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118" r="-711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681651" y="6936734"/>
            <a:ext cx="389559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Daromad Strategiyasi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526" y="6423423"/>
            <a:ext cx="3450796" cy="2279955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838200" y="1339586"/>
            <a:ext cx="115938" cy="679714"/>
            <a:chOff x="0" y="0"/>
            <a:chExt cx="154584" cy="90628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54559" cy="906272"/>
            </a:xfrm>
            <a:custGeom>
              <a:avLst/>
              <a:gdLst/>
              <a:ahLst/>
              <a:cxnLst/>
              <a:rect l="l" t="t" r="r" b="b"/>
              <a:pathLst>
                <a:path w="154559" h="906272">
                  <a:moveTo>
                    <a:pt x="0" y="0"/>
                  </a:moveTo>
                  <a:lnTo>
                    <a:pt x="154559" y="0"/>
                  </a:lnTo>
                  <a:lnTo>
                    <a:pt x="154559" y="906272"/>
                  </a:lnTo>
                  <a:lnTo>
                    <a:pt x="0" y="90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2109" r="-16" b="-4210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2" name="Freeform 22"/>
          <p:cNvSpPr/>
          <p:nvPr/>
        </p:nvSpPr>
        <p:spPr>
          <a:xfrm>
            <a:off x="8620976" y="2696598"/>
            <a:ext cx="1129753" cy="712772"/>
          </a:xfrm>
          <a:custGeom>
            <a:avLst/>
            <a:gdLst/>
            <a:ahLst/>
            <a:cxnLst/>
            <a:rect l="l" t="t" r="r" b="b"/>
            <a:pathLst>
              <a:path w="1129753" h="712772">
                <a:moveTo>
                  <a:pt x="0" y="0"/>
                </a:moveTo>
                <a:lnTo>
                  <a:pt x="1129753" y="0"/>
                </a:lnTo>
                <a:lnTo>
                  <a:pt x="1129753" y="712772"/>
                </a:lnTo>
                <a:lnTo>
                  <a:pt x="0" y="712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3" name="Freeform 23"/>
          <p:cNvSpPr/>
          <p:nvPr/>
        </p:nvSpPr>
        <p:spPr>
          <a:xfrm>
            <a:off x="14488901" y="2559462"/>
            <a:ext cx="1024291" cy="987044"/>
          </a:xfrm>
          <a:custGeom>
            <a:avLst/>
            <a:gdLst/>
            <a:ahLst/>
            <a:cxnLst/>
            <a:rect l="l" t="t" r="r" b="b"/>
            <a:pathLst>
              <a:path w="1024291" h="987044">
                <a:moveTo>
                  <a:pt x="0" y="0"/>
                </a:moveTo>
                <a:lnTo>
                  <a:pt x="1024291" y="0"/>
                </a:lnTo>
                <a:lnTo>
                  <a:pt x="1024291" y="987044"/>
                </a:lnTo>
                <a:lnTo>
                  <a:pt x="0" y="987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4" name="Freeform 24"/>
          <p:cNvSpPr/>
          <p:nvPr/>
        </p:nvSpPr>
        <p:spPr>
          <a:xfrm>
            <a:off x="2841680" y="2629872"/>
            <a:ext cx="839971" cy="916635"/>
          </a:xfrm>
          <a:custGeom>
            <a:avLst/>
            <a:gdLst/>
            <a:ahLst/>
            <a:cxnLst/>
            <a:rect l="l" t="t" r="r" b="b"/>
            <a:pathLst>
              <a:path w="839971" h="916635">
                <a:moveTo>
                  <a:pt x="0" y="0"/>
                </a:moveTo>
                <a:lnTo>
                  <a:pt x="839971" y="0"/>
                </a:lnTo>
                <a:lnTo>
                  <a:pt x="839971" y="916634"/>
                </a:lnTo>
                <a:lnTo>
                  <a:pt x="0" y="916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25" name="TextBox 25"/>
          <p:cNvSpPr txBox="1"/>
          <p:nvPr/>
        </p:nvSpPr>
        <p:spPr>
          <a:xfrm>
            <a:off x="954138" y="1285875"/>
            <a:ext cx="7088238" cy="85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6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Biznes Model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0536" y="3774119"/>
            <a:ext cx="389559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Loyihalar Komissiyasi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5167" y="4391949"/>
            <a:ext cx="3779520" cy="57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Muvaffaqiyatli yakunlangan har bir loyihadan </a:t>
            </a:r>
            <a:r>
              <a:rPr lang="en-US" sz="18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10% komissiya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 olinadi.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38057" y="3828059"/>
            <a:ext cx="389559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Premium </a:t>
            </a:r>
            <a:r>
              <a:rPr lang="en-US" sz="2750" dirty="0" err="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Obunalar</a:t>
            </a:r>
            <a:endParaRPr lang="en-US" sz="2750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085578" y="3881999"/>
            <a:ext cx="389559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Taklif jonatish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97023" y="4395406"/>
            <a:ext cx="3913003" cy="85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Frilanserlar uchun qidiruvda </a:t>
            </a:r>
            <a:r>
              <a:rPr lang="en-US" sz="18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TOP o'rinlar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 va qo'shimcha takliflar yuborish imkoniyati.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00901" y="4395406"/>
            <a:ext cx="3876542" cy="85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Mijoz mutaxassisga to'g'ridan-to'g'ri so'rov yuborganda olinadigan </a:t>
            </a:r>
            <a:r>
              <a:rPr lang="en-US" sz="1800" b="1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kichik xizmat haqi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73091" y="7473001"/>
            <a:ext cx="9204960" cy="57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Bizning asosiy daromad manbamiz platforma orqali o'tadigan </a:t>
            </a:r>
            <a:r>
              <a:rPr lang="en-US" sz="180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tranzaksiyalar hajmi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 hisoblanadi.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Foydalanuvchilar soni ortishi bilan Premium obunalar ulushi 30% gacha o'sishi prognoz qilinmoqda.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9063" y="996182"/>
            <a:ext cx="115938" cy="679714"/>
            <a:chOff x="0" y="0"/>
            <a:chExt cx="154584" cy="90628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4559" cy="906272"/>
            </a:xfrm>
            <a:custGeom>
              <a:avLst/>
              <a:gdLst/>
              <a:ahLst/>
              <a:cxnLst/>
              <a:rect l="l" t="t" r="r" b="b"/>
              <a:pathLst>
                <a:path w="154559" h="906272">
                  <a:moveTo>
                    <a:pt x="0" y="0"/>
                  </a:moveTo>
                  <a:lnTo>
                    <a:pt x="154559" y="0"/>
                  </a:lnTo>
                  <a:lnTo>
                    <a:pt x="154559" y="906272"/>
                  </a:lnTo>
                  <a:lnTo>
                    <a:pt x="0" y="90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2109" r="-16" b="-4210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75016" y="2610293"/>
          <a:ext cx="16713200" cy="6159500"/>
        </p:xfrm>
        <a:graphic>
          <a:graphicData uri="http://schemas.openxmlformats.org/drawingml/2006/table">
            <a:tbl>
              <a:tblPr/>
              <a:tblGrid>
                <a:gridCol w="417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Xususiyatlar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UzWork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Telegram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Upwork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Xavfsiz Bitim (Escrow)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UzCard / Humo to'lovlari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Lokalizatsiya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Komissiya miqdori 10%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6830199" y="4200050"/>
            <a:ext cx="515152" cy="515152"/>
          </a:xfrm>
          <a:custGeom>
            <a:avLst/>
            <a:gdLst/>
            <a:ahLst/>
            <a:cxnLst/>
            <a:rect l="l" t="t" r="r" b="b"/>
            <a:pathLst>
              <a:path w="515152" h="515152">
                <a:moveTo>
                  <a:pt x="0" y="0"/>
                </a:moveTo>
                <a:lnTo>
                  <a:pt x="515152" y="0"/>
                </a:lnTo>
                <a:lnTo>
                  <a:pt x="515152" y="515152"/>
                </a:lnTo>
                <a:lnTo>
                  <a:pt x="0" y="515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Freeform 14"/>
          <p:cNvSpPr/>
          <p:nvPr/>
        </p:nvSpPr>
        <p:spPr>
          <a:xfrm>
            <a:off x="6830199" y="5439577"/>
            <a:ext cx="515152" cy="515152"/>
          </a:xfrm>
          <a:custGeom>
            <a:avLst/>
            <a:gdLst/>
            <a:ahLst/>
            <a:cxnLst/>
            <a:rect l="l" t="t" r="r" b="b"/>
            <a:pathLst>
              <a:path w="515152" h="515152">
                <a:moveTo>
                  <a:pt x="0" y="0"/>
                </a:moveTo>
                <a:lnTo>
                  <a:pt x="515152" y="0"/>
                </a:lnTo>
                <a:lnTo>
                  <a:pt x="515152" y="515152"/>
                </a:lnTo>
                <a:lnTo>
                  <a:pt x="0" y="515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5" name="Freeform 15"/>
          <p:cNvSpPr/>
          <p:nvPr/>
        </p:nvSpPr>
        <p:spPr>
          <a:xfrm>
            <a:off x="6830199" y="6679105"/>
            <a:ext cx="515152" cy="515152"/>
          </a:xfrm>
          <a:custGeom>
            <a:avLst/>
            <a:gdLst/>
            <a:ahLst/>
            <a:cxnLst/>
            <a:rect l="l" t="t" r="r" b="b"/>
            <a:pathLst>
              <a:path w="515152" h="515152">
                <a:moveTo>
                  <a:pt x="0" y="0"/>
                </a:moveTo>
                <a:lnTo>
                  <a:pt x="515152" y="0"/>
                </a:lnTo>
                <a:lnTo>
                  <a:pt x="515152" y="515151"/>
                </a:lnTo>
                <a:lnTo>
                  <a:pt x="0" y="515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6" name="Freeform 16"/>
          <p:cNvSpPr/>
          <p:nvPr/>
        </p:nvSpPr>
        <p:spPr>
          <a:xfrm>
            <a:off x="6830199" y="7918632"/>
            <a:ext cx="515152" cy="515152"/>
          </a:xfrm>
          <a:custGeom>
            <a:avLst/>
            <a:gdLst/>
            <a:ahLst/>
            <a:cxnLst/>
            <a:rect l="l" t="t" r="r" b="b"/>
            <a:pathLst>
              <a:path w="515152" h="515152">
                <a:moveTo>
                  <a:pt x="0" y="0"/>
                </a:moveTo>
                <a:lnTo>
                  <a:pt x="515152" y="0"/>
                </a:lnTo>
                <a:lnTo>
                  <a:pt x="515152" y="515152"/>
                </a:lnTo>
                <a:lnTo>
                  <a:pt x="0" y="515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7" name="Freeform 17"/>
          <p:cNvSpPr/>
          <p:nvPr/>
        </p:nvSpPr>
        <p:spPr>
          <a:xfrm>
            <a:off x="15175176" y="4143107"/>
            <a:ext cx="515152" cy="515152"/>
          </a:xfrm>
          <a:custGeom>
            <a:avLst/>
            <a:gdLst/>
            <a:ahLst/>
            <a:cxnLst/>
            <a:rect l="l" t="t" r="r" b="b"/>
            <a:pathLst>
              <a:path w="515152" h="515152">
                <a:moveTo>
                  <a:pt x="0" y="0"/>
                </a:moveTo>
                <a:lnTo>
                  <a:pt x="515152" y="0"/>
                </a:lnTo>
                <a:lnTo>
                  <a:pt x="515152" y="515152"/>
                </a:lnTo>
                <a:lnTo>
                  <a:pt x="0" y="515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8" name="Freeform 18"/>
          <p:cNvSpPr/>
          <p:nvPr/>
        </p:nvSpPr>
        <p:spPr>
          <a:xfrm>
            <a:off x="11015163" y="4215922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80"/>
                </a:lnTo>
                <a:lnTo>
                  <a:pt x="0" y="499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775021" y="1476604"/>
            <a:ext cx="7670159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6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Raqobat Ustunligi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015163" y="5439577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80"/>
                </a:lnTo>
                <a:lnTo>
                  <a:pt x="0" y="499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1" name="Freeform 21"/>
          <p:cNvSpPr/>
          <p:nvPr/>
        </p:nvSpPr>
        <p:spPr>
          <a:xfrm>
            <a:off x="11015163" y="6593722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79"/>
                </a:lnTo>
                <a:lnTo>
                  <a:pt x="0" y="499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2" name="Freeform 22"/>
          <p:cNvSpPr/>
          <p:nvPr/>
        </p:nvSpPr>
        <p:spPr>
          <a:xfrm>
            <a:off x="11015163" y="7851409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79"/>
                </a:lnTo>
                <a:lnTo>
                  <a:pt x="0" y="499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3" name="Freeform 23"/>
          <p:cNvSpPr/>
          <p:nvPr/>
        </p:nvSpPr>
        <p:spPr>
          <a:xfrm>
            <a:off x="15118234" y="5447513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80"/>
                </a:lnTo>
                <a:lnTo>
                  <a:pt x="0" y="499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4" name="Freeform 24"/>
          <p:cNvSpPr/>
          <p:nvPr/>
        </p:nvSpPr>
        <p:spPr>
          <a:xfrm>
            <a:off x="15172490" y="6593722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1" y="0"/>
                </a:lnTo>
                <a:lnTo>
                  <a:pt x="490201" y="499279"/>
                </a:lnTo>
                <a:lnTo>
                  <a:pt x="0" y="499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5" name="Freeform 25"/>
          <p:cNvSpPr/>
          <p:nvPr/>
        </p:nvSpPr>
        <p:spPr>
          <a:xfrm>
            <a:off x="15200126" y="7851409"/>
            <a:ext cx="490202" cy="499280"/>
          </a:xfrm>
          <a:custGeom>
            <a:avLst/>
            <a:gdLst/>
            <a:ahLst/>
            <a:cxnLst/>
            <a:rect l="l" t="t" r="r" b="b"/>
            <a:pathLst>
              <a:path w="490202" h="499280">
                <a:moveTo>
                  <a:pt x="0" y="0"/>
                </a:moveTo>
                <a:lnTo>
                  <a:pt x="490202" y="0"/>
                </a:lnTo>
                <a:lnTo>
                  <a:pt x="490202" y="499279"/>
                </a:lnTo>
                <a:lnTo>
                  <a:pt x="0" y="499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0340" y="1888931"/>
            <a:ext cx="115938" cy="679714"/>
            <a:chOff x="0" y="0"/>
            <a:chExt cx="154584" cy="906285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54559" cy="906272"/>
            </a:xfrm>
            <a:custGeom>
              <a:avLst/>
              <a:gdLst/>
              <a:ahLst/>
              <a:cxnLst/>
              <a:rect l="l" t="t" r="r" b="b"/>
              <a:pathLst>
                <a:path w="154559" h="906272">
                  <a:moveTo>
                    <a:pt x="0" y="0"/>
                  </a:moveTo>
                  <a:lnTo>
                    <a:pt x="154559" y="0"/>
                  </a:lnTo>
                  <a:lnTo>
                    <a:pt x="154559" y="906272"/>
                  </a:lnTo>
                  <a:lnTo>
                    <a:pt x="0" y="90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2109" r="-16" b="-4210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75637" y="3825145"/>
            <a:ext cx="4058488" cy="3352286"/>
          </a:xfrm>
          <a:custGeom>
            <a:avLst/>
            <a:gdLst/>
            <a:ahLst/>
            <a:cxnLst/>
            <a:rect l="l" t="t" r="r" b="b"/>
            <a:pathLst>
              <a:path w="4058488" h="3352286">
                <a:moveTo>
                  <a:pt x="0" y="0"/>
                </a:moveTo>
                <a:lnTo>
                  <a:pt x="4058488" y="0"/>
                </a:lnTo>
                <a:lnTo>
                  <a:pt x="4058488" y="3352285"/>
                </a:lnTo>
                <a:lnTo>
                  <a:pt x="0" y="33522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3" name="Group 13"/>
          <p:cNvGrpSpPr/>
          <p:nvPr/>
        </p:nvGrpSpPr>
        <p:grpSpPr>
          <a:xfrm>
            <a:off x="659063" y="3879085"/>
            <a:ext cx="132569" cy="3279286"/>
            <a:chOff x="0" y="0"/>
            <a:chExt cx="176759" cy="4372381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76784" cy="4372356"/>
            </a:xfrm>
            <a:custGeom>
              <a:avLst/>
              <a:gdLst/>
              <a:ahLst/>
              <a:cxnLst/>
              <a:rect l="l" t="t" r="r" b="b"/>
              <a:pathLst>
                <a:path w="176784" h="4372356">
                  <a:moveTo>
                    <a:pt x="0" y="0"/>
                  </a:moveTo>
                  <a:lnTo>
                    <a:pt x="176784" y="0"/>
                  </a:lnTo>
                  <a:lnTo>
                    <a:pt x="176784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511" r="-6449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" name="Freeform 15"/>
          <p:cNvSpPr/>
          <p:nvPr/>
        </p:nvSpPr>
        <p:spPr>
          <a:xfrm>
            <a:off x="4989586" y="3842585"/>
            <a:ext cx="4058488" cy="3352286"/>
          </a:xfrm>
          <a:custGeom>
            <a:avLst/>
            <a:gdLst/>
            <a:ahLst/>
            <a:cxnLst/>
            <a:rect l="l" t="t" r="r" b="b"/>
            <a:pathLst>
              <a:path w="4058488" h="3352286">
                <a:moveTo>
                  <a:pt x="0" y="0"/>
                </a:moveTo>
                <a:lnTo>
                  <a:pt x="4058488" y="0"/>
                </a:lnTo>
                <a:lnTo>
                  <a:pt x="4058488" y="3352286"/>
                </a:lnTo>
                <a:lnTo>
                  <a:pt x="0" y="33522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6" name="Group 16"/>
          <p:cNvGrpSpPr/>
          <p:nvPr/>
        </p:nvGrpSpPr>
        <p:grpSpPr>
          <a:xfrm>
            <a:off x="4973022" y="3896535"/>
            <a:ext cx="132569" cy="3279286"/>
            <a:chOff x="0" y="0"/>
            <a:chExt cx="176759" cy="4372381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76784" cy="4372356"/>
            </a:xfrm>
            <a:custGeom>
              <a:avLst/>
              <a:gdLst/>
              <a:ahLst/>
              <a:cxnLst/>
              <a:rect l="l" t="t" r="r" b="b"/>
              <a:pathLst>
                <a:path w="176784" h="4372356">
                  <a:moveTo>
                    <a:pt x="0" y="0"/>
                  </a:moveTo>
                  <a:lnTo>
                    <a:pt x="176784" y="0"/>
                  </a:lnTo>
                  <a:lnTo>
                    <a:pt x="176784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511" r="-6449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8" name="Freeform 18"/>
          <p:cNvSpPr/>
          <p:nvPr/>
        </p:nvSpPr>
        <p:spPr>
          <a:xfrm>
            <a:off x="9303534" y="3860035"/>
            <a:ext cx="4058488" cy="3352286"/>
          </a:xfrm>
          <a:custGeom>
            <a:avLst/>
            <a:gdLst/>
            <a:ahLst/>
            <a:cxnLst/>
            <a:rect l="l" t="t" r="r" b="b"/>
            <a:pathLst>
              <a:path w="4058488" h="3352286">
                <a:moveTo>
                  <a:pt x="0" y="0"/>
                </a:moveTo>
                <a:lnTo>
                  <a:pt x="4058488" y="0"/>
                </a:lnTo>
                <a:lnTo>
                  <a:pt x="4058488" y="3352285"/>
                </a:lnTo>
                <a:lnTo>
                  <a:pt x="0" y="33522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19" name="Group 19"/>
          <p:cNvGrpSpPr/>
          <p:nvPr/>
        </p:nvGrpSpPr>
        <p:grpSpPr>
          <a:xfrm>
            <a:off x="9286970" y="3913975"/>
            <a:ext cx="132569" cy="3279286"/>
            <a:chOff x="0" y="0"/>
            <a:chExt cx="176759" cy="4372381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76784" cy="4372356"/>
            </a:xfrm>
            <a:custGeom>
              <a:avLst/>
              <a:gdLst/>
              <a:ahLst/>
              <a:cxnLst/>
              <a:rect l="l" t="t" r="r" b="b"/>
              <a:pathLst>
                <a:path w="176784" h="4372356">
                  <a:moveTo>
                    <a:pt x="0" y="0"/>
                  </a:moveTo>
                  <a:lnTo>
                    <a:pt x="176784" y="0"/>
                  </a:lnTo>
                  <a:lnTo>
                    <a:pt x="176784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511" r="-6449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617492" y="3877485"/>
            <a:ext cx="4058488" cy="3352286"/>
          </a:xfrm>
          <a:custGeom>
            <a:avLst/>
            <a:gdLst/>
            <a:ahLst/>
            <a:cxnLst/>
            <a:rect l="l" t="t" r="r" b="b"/>
            <a:pathLst>
              <a:path w="4058488" h="3352286">
                <a:moveTo>
                  <a:pt x="0" y="0"/>
                </a:moveTo>
                <a:lnTo>
                  <a:pt x="4058489" y="0"/>
                </a:lnTo>
                <a:lnTo>
                  <a:pt x="4058489" y="3352285"/>
                </a:lnTo>
                <a:lnTo>
                  <a:pt x="0" y="33522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22" name="Group 22"/>
          <p:cNvGrpSpPr/>
          <p:nvPr/>
        </p:nvGrpSpPr>
        <p:grpSpPr>
          <a:xfrm>
            <a:off x="13600919" y="3931425"/>
            <a:ext cx="132569" cy="3279286"/>
            <a:chOff x="0" y="0"/>
            <a:chExt cx="176759" cy="4372381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76784" cy="4372356"/>
            </a:xfrm>
            <a:custGeom>
              <a:avLst/>
              <a:gdLst/>
              <a:ahLst/>
              <a:cxnLst/>
              <a:rect l="l" t="t" r="r" b="b"/>
              <a:pathLst>
                <a:path w="176784" h="4372356">
                  <a:moveTo>
                    <a:pt x="0" y="0"/>
                  </a:moveTo>
                  <a:lnTo>
                    <a:pt x="176784" y="0"/>
                  </a:lnTo>
                  <a:lnTo>
                    <a:pt x="176784" y="4372356"/>
                  </a:lnTo>
                  <a:lnTo>
                    <a:pt x="0" y="4372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61D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992816" y="4935998"/>
            <a:ext cx="3388652" cy="850173"/>
            <a:chOff x="0" y="0"/>
            <a:chExt cx="4518203" cy="11335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18152" cy="1133602"/>
            </a:xfrm>
            <a:custGeom>
              <a:avLst/>
              <a:gdLst/>
              <a:ahLst/>
              <a:cxnLst/>
              <a:rect l="l" t="t" r="r" b="b"/>
              <a:pathLst>
                <a:path w="4518152" h="1133602">
                  <a:moveTo>
                    <a:pt x="0" y="0"/>
                  </a:moveTo>
                  <a:lnTo>
                    <a:pt x="4518152" y="0"/>
                  </a:lnTo>
                  <a:lnTo>
                    <a:pt x="4518152" y="1133602"/>
                  </a:lnTo>
                  <a:lnTo>
                    <a:pt x="0" y="1133602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518203" cy="115261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436"/>
                </a:lnSpc>
              </a:pPr>
              <a:r>
                <a:rPr lang="en-US" sz="2750" dirty="0">
                  <a:solidFill>
                    <a:srgbClr val="F9B61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10,000+ </a:t>
              </a:r>
              <a:r>
                <a:rPr lang="en-US" sz="2750" dirty="0" err="1">
                  <a:solidFill>
                    <a:srgbClr val="F9B61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Foydalanuvchi</a:t>
              </a:r>
              <a:endParaRPr lang="en-US" sz="2750" dirty="0">
                <a:solidFill>
                  <a:srgbClr val="F9B61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15076513" y="4016324"/>
            <a:ext cx="994023" cy="994023"/>
          </a:xfrm>
          <a:custGeom>
            <a:avLst/>
            <a:gdLst/>
            <a:ahLst/>
            <a:cxnLst/>
            <a:rect l="l" t="t" r="r" b="b"/>
            <a:pathLst>
              <a:path w="994023" h="994023">
                <a:moveTo>
                  <a:pt x="0" y="0"/>
                </a:moveTo>
                <a:lnTo>
                  <a:pt x="994023" y="0"/>
                </a:lnTo>
                <a:lnTo>
                  <a:pt x="994023" y="994023"/>
                </a:lnTo>
                <a:lnTo>
                  <a:pt x="0" y="994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8" name="Freeform 28"/>
          <p:cNvSpPr/>
          <p:nvPr/>
        </p:nvSpPr>
        <p:spPr>
          <a:xfrm>
            <a:off x="2276225" y="3975607"/>
            <a:ext cx="994300" cy="994300"/>
          </a:xfrm>
          <a:custGeom>
            <a:avLst/>
            <a:gdLst/>
            <a:ahLst/>
            <a:cxnLst/>
            <a:rect l="l" t="t" r="r" b="b"/>
            <a:pathLst>
              <a:path w="994300" h="994300">
                <a:moveTo>
                  <a:pt x="0" y="0"/>
                </a:moveTo>
                <a:lnTo>
                  <a:pt x="994300" y="0"/>
                </a:lnTo>
                <a:lnTo>
                  <a:pt x="994300" y="994300"/>
                </a:lnTo>
                <a:lnTo>
                  <a:pt x="0" y="9943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9" name="Freeform 29"/>
          <p:cNvSpPr/>
          <p:nvPr/>
        </p:nvSpPr>
        <p:spPr>
          <a:xfrm>
            <a:off x="6595743" y="4080123"/>
            <a:ext cx="931918" cy="930224"/>
          </a:xfrm>
          <a:custGeom>
            <a:avLst/>
            <a:gdLst/>
            <a:ahLst/>
            <a:cxnLst/>
            <a:rect l="l" t="t" r="r" b="b"/>
            <a:pathLst>
              <a:path w="931918" h="930224">
                <a:moveTo>
                  <a:pt x="0" y="0"/>
                </a:moveTo>
                <a:lnTo>
                  <a:pt x="931918" y="0"/>
                </a:lnTo>
                <a:lnTo>
                  <a:pt x="931918" y="930224"/>
                </a:lnTo>
                <a:lnTo>
                  <a:pt x="0" y="9302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0" name="Freeform 30"/>
          <p:cNvSpPr/>
          <p:nvPr/>
        </p:nvSpPr>
        <p:spPr>
          <a:xfrm>
            <a:off x="10833165" y="4048224"/>
            <a:ext cx="958412" cy="930224"/>
          </a:xfrm>
          <a:custGeom>
            <a:avLst/>
            <a:gdLst/>
            <a:ahLst/>
            <a:cxnLst/>
            <a:rect l="l" t="t" r="r" b="b"/>
            <a:pathLst>
              <a:path w="958412" h="930224">
                <a:moveTo>
                  <a:pt x="0" y="0"/>
                </a:moveTo>
                <a:lnTo>
                  <a:pt x="958412" y="0"/>
                </a:lnTo>
                <a:lnTo>
                  <a:pt x="958412" y="930223"/>
                </a:lnTo>
                <a:lnTo>
                  <a:pt x="0" y="9302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776297" y="2369353"/>
            <a:ext cx="10578779" cy="34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600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Bozorga Kirish Strategiyasi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9049" y="5068081"/>
            <a:ext cx="338865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IT Ta'lim (B2C)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2001" y="5892994"/>
            <a:ext cx="3263894" cy="85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IT-markazlar (Najot Ta'lim, PDP) bitiruvchilarini sifatli kadrlar sifatida ro'yxatdan o'tkazish.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67376" y="5134956"/>
            <a:ext cx="338865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B2B Aksiyasi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85949" y="5910443"/>
            <a:ext cx="3263894" cy="112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Startaplar va IT Park kompaniyalarini birinchi loyihalarni berishlari uchun 0% komissiya bilan jalb qilish.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92373" y="5116773"/>
            <a:ext cx="3388652" cy="43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Instagram Target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99898" y="5927884"/>
            <a:ext cx="3263894" cy="85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Mavjud frilans guruhlarida "Xavfsiz bitim" afzalliklari orqali maqsadli (target) reklamalar berish.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013856" y="5945334"/>
            <a:ext cx="3263894" cy="85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Platformaning O'zbekiston bozorida birlamchi barqarorlashuv nuqtasi (Traction)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5230" y="7365378"/>
            <a:ext cx="3859301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Iyun 2026 (MVP)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89179" y="7365378"/>
            <a:ext cx="3857444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Avgust 2026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83649" y="7365378"/>
            <a:ext cx="3857444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Oktyabr2026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78119" y="7365378"/>
            <a:ext cx="3857444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Dekabr 2026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1574302"/>
            <a:ext cx="7088238" cy="962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Jamoa va Rejalar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24950" y="3103512"/>
            <a:ext cx="38100" cy="5532882"/>
            <a:chOff x="0" y="0"/>
            <a:chExt cx="50800" cy="73771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7377176"/>
            </a:xfrm>
            <a:custGeom>
              <a:avLst/>
              <a:gdLst/>
              <a:ahLst/>
              <a:cxnLst/>
              <a:rect l="l" t="t" r="r" b="b"/>
              <a:pathLst>
                <a:path w="50800" h="737717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351776"/>
                  </a:lnTo>
                  <a:cubicBezTo>
                    <a:pt x="50800" y="7365746"/>
                    <a:pt x="39370" y="7377176"/>
                    <a:pt x="25400" y="7377176"/>
                  </a:cubicBezTo>
                  <a:cubicBezTo>
                    <a:pt x="11430" y="7377176"/>
                    <a:pt x="0" y="7365746"/>
                    <a:pt x="0" y="7351776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12611" y="3403397"/>
            <a:ext cx="850582" cy="38100"/>
            <a:chOff x="0" y="0"/>
            <a:chExt cx="1134110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Freeform 13"/>
          <p:cNvSpPr/>
          <p:nvPr/>
        </p:nvSpPr>
        <p:spPr>
          <a:xfrm>
            <a:off x="8820302" y="3098749"/>
            <a:ext cx="647414" cy="647414"/>
          </a:xfrm>
          <a:custGeom>
            <a:avLst/>
            <a:gdLst/>
            <a:ahLst/>
            <a:cxnLst/>
            <a:rect l="l" t="t" r="r" b="b"/>
            <a:pathLst>
              <a:path w="647414" h="647414">
                <a:moveTo>
                  <a:pt x="0" y="0"/>
                </a:moveTo>
                <a:lnTo>
                  <a:pt x="647415" y="0"/>
                </a:lnTo>
                <a:lnTo>
                  <a:pt x="647415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8931402" y="3289992"/>
            <a:ext cx="425206" cy="39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427" y="3162748"/>
            <a:ext cx="400198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2026 — Ishga tushirish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3642417"/>
            <a:ext cx="6734175" cy="62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1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MVP yaratish, doimiy 5000+ foydalanuvchilarni jalb qilish.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24835" y="5104505"/>
            <a:ext cx="850582" cy="38100"/>
            <a:chOff x="0" y="0"/>
            <a:chExt cx="1134110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9" name="Freeform 19"/>
          <p:cNvSpPr/>
          <p:nvPr/>
        </p:nvSpPr>
        <p:spPr>
          <a:xfrm>
            <a:off x="8820302" y="4799857"/>
            <a:ext cx="647414" cy="647414"/>
          </a:xfrm>
          <a:custGeom>
            <a:avLst/>
            <a:gdLst/>
            <a:ahLst/>
            <a:cxnLst/>
            <a:rect l="l" t="t" r="r" b="b"/>
            <a:pathLst>
              <a:path w="647414" h="647414">
                <a:moveTo>
                  <a:pt x="0" y="0"/>
                </a:moveTo>
                <a:lnTo>
                  <a:pt x="647415" y="0"/>
                </a:lnTo>
                <a:lnTo>
                  <a:pt x="647415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8931402" y="4991100"/>
            <a:ext cx="425206" cy="39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61587" y="486385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2027 — O'sish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1587" y="5343525"/>
            <a:ext cx="6734175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Foydalanuvchilar sonini kengaytirish  va O’zbekiston bozorini 50% egallash.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012611" y="6570764"/>
            <a:ext cx="850582" cy="38100"/>
            <a:chOff x="0" y="0"/>
            <a:chExt cx="1134110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" name="Freeform 25"/>
          <p:cNvSpPr/>
          <p:nvPr/>
        </p:nvSpPr>
        <p:spPr>
          <a:xfrm>
            <a:off x="8820302" y="6266107"/>
            <a:ext cx="647414" cy="647414"/>
          </a:xfrm>
          <a:custGeom>
            <a:avLst/>
            <a:gdLst/>
            <a:ahLst/>
            <a:cxnLst/>
            <a:rect l="l" t="t" r="r" b="b"/>
            <a:pathLst>
              <a:path w="647414" h="647414">
                <a:moveTo>
                  <a:pt x="0" y="0"/>
                </a:moveTo>
                <a:lnTo>
                  <a:pt x="647415" y="0"/>
                </a:lnTo>
                <a:lnTo>
                  <a:pt x="647415" y="647414"/>
                </a:lnTo>
                <a:lnTo>
                  <a:pt x="0" y="64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8931402" y="6457359"/>
            <a:ext cx="425206" cy="39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1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82370" y="6330105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6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2028 — Liderlik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238" y="6809784"/>
            <a:ext cx="6734175" cy="10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1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Markaziy Osiyo bozorning </a:t>
            </a:r>
            <a:r>
              <a:rPr lang="en-US" sz="2187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20%</a:t>
            </a: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qismini qamrab olish 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22" cy="514350"/>
            <a:chOff x="0" y="0"/>
            <a:chExt cx="2870962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r="-82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4148" y="1683772"/>
            <a:ext cx="2623280" cy="2672048"/>
            <a:chOff x="0" y="0"/>
            <a:chExt cx="3497707" cy="35627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1" r="-381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732004" y="1683772"/>
            <a:ext cx="2623280" cy="2672048"/>
            <a:chOff x="0" y="0"/>
            <a:chExt cx="3497707" cy="356273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29" r="-92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58738" y="1683772"/>
            <a:ext cx="2623280" cy="2672048"/>
            <a:chOff x="0" y="0"/>
            <a:chExt cx="3497707" cy="35627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040" r="-3040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14148" y="5651754"/>
            <a:ext cx="2623280" cy="2672048"/>
            <a:chOff x="0" y="0"/>
            <a:chExt cx="3497707" cy="35627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485" b="-1485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86443" y="5651754"/>
            <a:ext cx="2623280" cy="2672048"/>
            <a:chOff x="0" y="0"/>
            <a:chExt cx="3497707" cy="35627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405" r="-4405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58738" y="5651754"/>
            <a:ext cx="2623280" cy="2672048"/>
            <a:chOff x="0" y="0"/>
            <a:chExt cx="3497707" cy="35627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97707" cy="3562731"/>
            </a:xfrm>
            <a:custGeom>
              <a:avLst/>
              <a:gdLst/>
              <a:ahLst/>
              <a:cxnLst/>
              <a:rect l="l" t="t" r="r" b="b"/>
              <a:pathLst>
                <a:path w="3497707" h="3562731">
                  <a:moveTo>
                    <a:pt x="0" y="0"/>
                  </a:moveTo>
                  <a:lnTo>
                    <a:pt x="3497707" y="0"/>
                  </a:lnTo>
                  <a:lnTo>
                    <a:pt x="3497707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98" r="-1898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3757" y="4423410"/>
            <a:ext cx="3544043" cy="699287"/>
            <a:chOff x="0" y="0"/>
            <a:chExt cx="4725391" cy="9323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25416" cy="932434"/>
            </a:xfrm>
            <a:custGeom>
              <a:avLst/>
              <a:gdLst/>
              <a:ahLst/>
              <a:cxnLst/>
              <a:rect l="l" t="t" r="r" b="b"/>
              <a:pathLst>
                <a:path w="4725416" h="932434">
                  <a:moveTo>
                    <a:pt x="0" y="0"/>
                  </a:moveTo>
                  <a:lnTo>
                    <a:pt x="4725416" y="0"/>
                  </a:lnTo>
                  <a:lnTo>
                    <a:pt x="4725416" y="932434"/>
                  </a:lnTo>
                  <a:lnTo>
                    <a:pt x="0" y="93243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48680" b="-4867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53757" y="4394835"/>
            <a:ext cx="3544043" cy="727862"/>
            <a:chOff x="0" y="0"/>
            <a:chExt cx="4725391" cy="9704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5391" cy="970487"/>
            </a:xfrm>
            <a:custGeom>
              <a:avLst/>
              <a:gdLst/>
              <a:ahLst/>
              <a:cxnLst/>
              <a:rect l="l" t="t" r="r" b="b"/>
              <a:pathLst>
                <a:path w="4725391" h="970487">
                  <a:moveTo>
                    <a:pt x="0" y="0"/>
                  </a:moveTo>
                  <a:lnTo>
                    <a:pt x="4725391" y="0"/>
                  </a:lnTo>
                  <a:lnTo>
                    <a:pt x="4725391" y="970487"/>
                  </a:lnTo>
                  <a:lnTo>
                    <a:pt x="0" y="97048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44874" b="-44874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725391" cy="1008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Og’abek Mannonov</a:t>
              </a:r>
            </a:p>
            <a:p>
              <a:pPr algn="ctr">
                <a:lnSpc>
                  <a:spcPts val="1950"/>
                </a:lnSpc>
              </a:pPr>
              <a:r>
                <a:rPr lang="en-US" sz="16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Founder &amp; CEO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26042" y="4381605"/>
            <a:ext cx="3544043" cy="699287"/>
            <a:chOff x="0" y="0"/>
            <a:chExt cx="4725391" cy="9323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25416" cy="932434"/>
            </a:xfrm>
            <a:custGeom>
              <a:avLst/>
              <a:gdLst/>
              <a:ahLst/>
              <a:cxnLst/>
              <a:rect l="l" t="t" r="r" b="b"/>
              <a:pathLst>
                <a:path w="4725416" h="932434">
                  <a:moveTo>
                    <a:pt x="0" y="0"/>
                  </a:moveTo>
                  <a:lnTo>
                    <a:pt x="4725416" y="0"/>
                  </a:lnTo>
                  <a:lnTo>
                    <a:pt x="4725416" y="932434"/>
                  </a:lnTo>
                  <a:lnTo>
                    <a:pt x="0" y="93243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48680" b="-4867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26042" y="4353030"/>
            <a:ext cx="3544043" cy="727862"/>
            <a:chOff x="0" y="0"/>
            <a:chExt cx="4725391" cy="9704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25391" cy="970487"/>
            </a:xfrm>
            <a:custGeom>
              <a:avLst/>
              <a:gdLst/>
              <a:ahLst/>
              <a:cxnLst/>
              <a:rect l="l" t="t" r="r" b="b"/>
              <a:pathLst>
                <a:path w="4725391" h="970487">
                  <a:moveTo>
                    <a:pt x="0" y="0"/>
                  </a:moveTo>
                  <a:lnTo>
                    <a:pt x="4725391" y="0"/>
                  </a:lnTo>
                  <a:lnTo>
                    <a:pt x="4725391" y="970487"/>
                  </a:lnTo>
                  <a:lnTo>
                    <a:pt x="0" y="97048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44874" b="-44874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725391" cy="1008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Ahmadjon Nigmatullayev</a:t>
              </a:r>
            </a:p>
            <a:p>
              <a:pPr algn="ctr">
                <a:lnSpc>
                  <a:spcPts val="1950"/>
                </a:lnSpc>
              </a:pPr>
              <a:r>
                <a:rPr lang="en-US" sz="16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DevOps &amp; AI Engineer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598338" y="4351972"/>
            <a:ext cx="3544043" cy="770725"/>
            <a:chOff x="0" y="0"/>
            <a:chExt cx="4725391" cy="10276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25416" cy="1027684"/>
            </a:xfrm>
            <a:custGeom>
              <a:avLst/>
              <a:gdLst/>
              <a:ahLst/>
              <a:cxnLst/>
              <a:rect l="l" t="t" r="r" b="b"/>
              <a:pathLst>
                <a:path w="4725416" h="1027684">
                  <a:moveTo>
                    <a:pt x="0" y="0"/>
                  </a:moveTo>
                  <a:lnTo>
                    <a:pt x="4725416" y="0"/>
                  </a:lnTo>
                  <a:lnTo>
                    <a:pt x="4725416" y="1027684"/>
                  </a:lnTo>
                  <a:lnTo>
                    <a:pt x="0" y="102768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39534" b="-3952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598338" y="4323397"/>
            <a:ext cx="3544043" cy="799300"/>
            <a:chOff x="0" y="0"/>
            <a:chExt cx="4725391" cy="10657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25391" cy="1065736"/>
            </a:xfrm>
            <a:custGeom>
              <a:avLst/>
              <a:gdLst/>
              <a:ahLst/>
              <a:cxnLst/>
              <a:rect l="l" t="t" r="r" b="b"/>
              <a:pathLst>
                <a:path w="4725391" h="1065736">
                  <a:moveTo>
                    <a:pt x="0" y="0"/>
                  </a:moveTo>
                  <a:lnTo>
                    <a:pt x="4725391" y="0"/>
                  </a:lnTo>
                  <a:lnTo>
                    <a:pt x="4725391" y="1065736"/>
                  </a:lnTo>
                  <a:lnTo>
                    <a:pt x="0" y="1065736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36395" b="-36395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725391" cy="110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Muhammadali Adhamov</a:t>
              </a:r>
            </a:p>
            <a:p>
              <a:pPr algn="ctr">
                <a:lnSpc>
                  <a:spcPts val="2925"/>
                </a:lnSpc>
              </a:pPr>
              <a:r>
                <a:rPr lang="en-US" sz="16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Developer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3757" y="8363207"/>
            <a:ext cx="3544043" cy="770725"/>
            <a:chOff x="0" y="0"/>
            <a:chExt cx="4725391" cy="102763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25416" cy="1027684"/>
            </a:xfrm>
            <a:custGeom>
              <a:avLst/>
              <a:gdLst/>
              <a:ahLst/>
              <a:cxnLst/>
              <a:rect l="l" t="t" r="r" b="b"/>
              <a:pathLst>
                <a:path w="4725416" h="1027684">
                  <a:moveTo>
                    <a:pt x="0" y="0"/>
                  </a:moveTo>
                  <a:lnTo>
                    <a:pt x="4725416" y="0"/>
                  </a:lnTo>
                  <a:lnTo>
                    <a:pt x="4725416" y="1027684"/>
                  </a:lnTo>
                  <a:lnTo>
                    <a:pt x="0" y="102768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39534" b="-39529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53757" y="8334632"/>
            <a:ext cx="3544043" cy="799300"/>
            <a:chOff x="0" y="0"/>
            <a:chExt cx="4725391" cy="106573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25391" cy="1065736"/>
            </a:xfrm>
            <a:custGeom>
              <a:avLst/>
              <a:gdLst/>
              <a:ahLst/>
              <a:cxnLst/>
              <a:rect l="l" t="t" r="r" b="b"/>
              <a:pathLst>
                <a:path w="4725391" h="1065736">
                  <a:moveTo>
                    <a:pt x="0" y="0"/>
                  </a:moveTo>
                  <a:lnTo>
                    <a:pt x="4725391" y="0"/>
                  </a:lnTo>
                  <a:lnTo>
                    <a:pt x="4725391" y="1065736"/>
                  </a:lnTo>
                  <a:lnTo>
                    <a:pt x="0" y="1065736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36395" b="-36395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725391" cy="11038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Muhammadullo Azamov</a:t>
              </a:r>
            </a:p>
            <a:p>
              <a:pPr algn="ctr">
                <a:lnSpc>
                  <a:spcPts val="2925"/>
                </a:lnSpc>
              </a:pPr>
              <a:r>
                <a:rPr lang="en-US" sz="16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Developer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26042" y="8559013"/>
            <a:ext cx="3544043" cy="699287"/>
            <a:chOff x="0" y="0"/>
            <a:chExt cx="4725391" cy="9323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725416" cy="932434"/>
            </a:xfrm>
            <a:custGeom>
              <a:avLst/>
              <a:gdLst/>
              <a:ahLst/>
              <a:cxnLst/>
              <a:rect l="l" t="t" r="r" b="b"/>
              <a:pathLst>
                <a:path w="4725416" h="932434">
                  <a:moveTo>
                    <a:pt x="0" y="0"/>
                  </a:moveTo>
                  <a:lnTo>
                    <a:pt x="4725416" y="0"/>
                  </a:lnTo>
                  <a:lnTo>
                    <a:pt x="4725416" y="932434"/>
                  </a:lnTo>
                  <a:lnTo>
                    <a:pt x="0" y="93243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48680" b="-4867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26042" y="8530438"/>
            <a:ext cx="3544043" cy="727862"/>
            <a:chOff x="0" y="0"/>
            <a:chExt cx="4725391" cy="97048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25391" cy="970487"/>
            </a:xfrm>
            <a:custGeom>
              <a:avLst/>
              <a:gdLst/>
              <a:ahLst/>
              <a:cxnLst/>
              <a:rect l="l" t="t" r="r" b="b"/>
              <a:pathLst>
                <a:path w="4725391" h="970487">
                  <a:moveTo>
                    <a:pt x="0" y="0"/>
                  </a:moveTo>
                  <a:lnTo>
                    <a:pt x="4725391" y="0"/>
                  </a:lnTo>
                  <a:lnTo>
                    <a:pt x="4725391" y="970487"/>
                  </a:lnTo>
                  <a:lnTo>
                    <a:pt x="0" y="97048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44874" b="-44874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725391" cy="1008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Shoxrux Rahmatullayev</a:t>
              </a:r>
            </a:p>
            <a:p>
              <a:pPr algn="ctr">
                <a:lnSpc>
                  <a:spcPts val="1950"/>
                </a:lnSpc>
              </a:pPr>
              <a:r>
                <a:rPr lang="en-US" sz="16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Developer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715257" y="8363207"/>
            <a:ext cx="3544043" cy="699287"/>
            <a:chOff x="0" y="0"/>
            <a:chExt cx="4725391" cy="93238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25416" cy="932434"/>
            </a:xfrm>
            <a:custGeom>
              <a:avLst/>
              <a:gdLst/>
              <a:ahLst/>
              <a:cxnLst/>
              <a:rect l="l" t="t" r="r" b="b"/>
              <a:pathLst>
                <a:path w="4725416" h="932434">
                  <a:moveTo>
                    <a:pt x="0" y="0"/>
                  </a:moveTo>
                  <a:lnTo>
                    <a:pt x="4725416" y="0"/>
                  </a:lnTo>
                  <a:lnTo>
                    <a:pt x="4725416" y="932434"/>
                  </a:lnTo>
                  <a:lnTo>
                    <a:pt x="0" y="93243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t="-48680" b="-4867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715257" y="8334632"/>
            <a:ext cx="3544043" cy="727862"/>
            <a:chOff x="0" y="0"/>
            <a:chExt cx="4725391" cy="9704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725391" cy="970487"/>
            </a:xfrm>
            <a:custGeom>
              <a:avLst/>
              <a:gdLst/>
              <a:ahLst/>
              <a:cxnLst/>
              <a:rect l="l" t="t" r="r" b="b"/>
              <a:pathLst>
                <a:path w="4725391" h="970487">
                  <a:moveTo>
                    <a:pt x="0" y="0"/>
                  </a:moveTo>
                  <a:lnTo>
                    <a:pt x="4725391" y="0"/>
                  </a:lnTo>
                  <a:lnTo>
                    <a:pt x="4725391" y="970487"/>
                  </a:lnTo>
                  <a:lnTo>
                    <a:pt x="0" y="97048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44874" b="-44874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725391" cy="1008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Ibrohim Rajabov</a:t>
              </a:r>
            </a:p>
            <a:p>
              <a:pPr algn="ctr">
                <a:lnSpc>
                  <a:spcPts val="1950"/>
                </a:lnSpc>
              </a:pPr>
              <a:r>
                <a:rPr lang="en-US" sz="162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Yurist 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43766" y="230581"/>
            <a:ext cx="7088238" cy="119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Kemadagilar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>
                <a:alphaModFix amt="95000"/>
              </a:blip>
              <a:stretch>
                <a:fillRect t="-32958" b="-32957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92720" y="9617926"/>
            <a:ext cx="2695289" cy="669036"/>
            <a:chOff x="0" y="0"/>
            <a:chExt cx="3593719" cy="8920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93719" cy="892048"/>
            </a:xfrm>
            <a:custGeom>
              <a:avLst/>
              <a:gdLst/>
              <a:ahLst/>
              <a:cxnLst/>
              <a:rect l="l" t="t" r="r" b="b"/>
              <a:pathLst>
                <a:path w="3593719" h="892048">
                  <a:moveTo>
                    <a:pt x="0" y="0"/>
                  </a:moveTo>
                  <a:lnTo>
                    <a:pt x="3593719" y="0"/>
                  </a:lnTo>
                  <a:lnTo>
                    <a:pt x="3593719" y="892048"/>
                  </a:lnTo>
                  <a:lnTo>
                    <a:pt x="0" y="892048"/>
                  </a:lnTo>
                  <a:close/>
                </a:path>
              </a:pathLst>
            </a:custGeom>
            <a:solidFill>
              <a:srgbClr val="0D0A2C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5438" y="834733"/>
            <a:ext cx="16457114" cy="8580130"/>
            <a:chOff x="0" y="0"/>
            <a:chExt cx="21942819" cy="11440173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1908898" cy="11406378"/>
            </a:xfrm>
            <a:custGeom>
              <a:avLst/>
              <a:gdLst/>
              <a:ahLst/>
              <a:cxnLst/>
              <a:rect l="l" t="t" r="r" b="b"/>
              <a:pathLst>
                <a:path w="21908898" h="11406378">
                  <a:moveTo>
                    <a:pt x="0" y="1901190"/>
                  </a:moveTo>
                  <a:cubicBezTo>
                    <a:pt x="0" y="851154"/>
                    <a:pt x="852424" y="0"/>
                    <a:pt x="1903857" y="0"/>
                  </a:cubicBezTo>
                  <a:lnTo>
                    <a:pt x="20005167" y="0"/>
                  </a:lnTo>
                  <a:cubicBezTo>
                    <a:pt x="21056601" y="0"/>
                    <a:pt x="21908898" y="851154"/>
                    <a:pt x="21908898" y="1901063"/>
                  </a:cubicBezTo>
                  <a:lnTo>
                    <a:pt x="21908898" y="9505315"/>
                  </a:lnTo>
                  <a:cubicBezTo>
                    <a:pt x="21908898" y="10555224"/>
                    <a:pt x="21056601" y="11406378"/>
                    <a:pt x="20005167" y="11406378"/>
                  </a:cubicBezTo>
                  <a:lnTo>
                    <a:pt x="1903857" y="11406378"/>
                  </a:lnTo>
                  <a:cubicBezTo>
                    <a:pt x="852424" y="11406378"/>
                    <a:pt x="127" y="10555224"/>
                    <a:pt x="127" y="9505315"/>
                  </a:cubicBezTo>
                  <a:close/>
                </a:path>
              </a:pathLst>
            </a:custGeom>
            <a:solidFill>
              <a:srgbClr val="0E0A2B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1942806" cy="11440288"/>
            </a:xfrm>
            <a:custGeom>
              <a:avLst/>
              <a:gdLst/>
              <a:ahLst/>
              <a:cxnLst/>
              <a:rect l="l" t="t" r="r" b="b"/>
              <a:pathLst>
                <a:path w="21942806" h="11440288">
                  <a:moveTo>
                    <a:pt x="0" y="1918081"/>
                  </a:moveTo>
                  <a:cubicBezTo>
                    <a:pt x="0" y="858647"/>
                    <a:pt x="859917" y="0"/>
                    <a:pt x="1920748" y="0"/>
                  </a:cubicBezTo>
                  <a:lnTo>
                    <a:pt x="20022058" y="0"/>
                  </a:lnTo>
                  <a:lnTo>
                    <a:pt x="20022058" y="16891"/>
                  </a:lnTo>
                  <a:lnTo>
                    <a:pt x="20022058" y="0"/>
                  </a:lnTo>
                  <a:cubicBezTo>
                    <a:pt x="21082763" y="0"/>
                    <a:pt x="21942806" y="858647"/>
                    <a:pt x="21942806" y="1918081"/>
                  </a:cubicBezTo>
                  <a:lnTo>
                    <a:pt x="21925916" y="1918081"/>
                  </a:lnTo>
                  <a:lnTo>
                    <a:pt x="21942806" y="1918081"/>
                  </a:lnTo>
                  <a:lnTo>
                    <a:pt x="21942806" y="9522206"/>
                  </a:lnTo>
                  <a:lnTo>
                    <a:pt x="21925916" y="9522206"/>
                  </a:lnTo>
                  <a:lnTo>
                    <a:pt x="21942806" y="9522206"/>
                  </a:lnTo>
                  <a:cubicBezTo>
                    <a:pt x="21942806" y="10581514"/>
                    <a:pt x="21082890" y="11440288"/>
                    <a:pt x="20022058" y="11440288"/>
                  </a:cubicBezTo>
                  <a:lnTo>
                    <a:pt x="20022058" y="11423397"/>
                  </a:lnTo>
                  <a:lnTo>
                    <a:pt x="20022058" y="11440288"/>
                  </a:lnTo>
                  <a:lnTo>
                    <a:pt x="1920748" y="11440288"/>
                  </a:lnTo>
                  <a:lnTo>
                    <a:pt x="1920748" y="11423397"/>
                  </a:lnTo>
                  <a:lnTo>
                    <a:pt x="1920748" y="11440288"/>
                  </a:lnTo>
                  <a:cubicBezTo>
                    <a:pt x="859917" y="11440160"/>
                    <a:pt x="0" y="10581513"/>
                    <a:pt x="0" y="9522206"/>
                  </a:cubicBezTo>
                  <a:lnTo>
                    <a:pt x="0" y="1918081"/>
                  </a:lnTo>
                  <a:lnTo>
                    <a:pt x="16891" y="1918081"/>
                  </a:lnTo>
                  <a:lnTo>
                    <a:pt x="0" y="1918081"/>
                  </a:lnTo>
                  <a:moveTo>
                    <a:pt x="33909" y="1918081"/>
                  </a:moveTo>
                  <a:lnTo>
                    <a:pt x="33909" y="9522206"/>
                  </a:lnTo>
                  <a:lnTo>
                    <a:pt x="16891" y="9522206"/>
                  </a:lnTo>
                  <a:lnTo>
                    <a:pt x="33909" y="9522206"/>
                  </a:lnTo>
                  <a:cubicBezTo>
                    <a:pt x="33909" y="10562717"/>
                    <a:pt x="878713" y="11406378"/>
                    <a:pt x="1920748" y="11406378"/>
                  </a:cubicBezTo>
                  <a:lnTo>
                    <a:pt x="20022058" y="11406378"/>
                  </a:lnTo>
                  <a:cubicBezTo>
                    <a:pt x="21064221" y="11406378"/>
                    <a:pt x="21908898" y="10562844"/>
                    <a:pt x="21908898" y="9522206"/>
                  </a:cubicBezTo>
                  <a:lnTo>
                    <a:pt x="21908898" y="1918081"/>
                  </a:lnTo>
                  <a:cubicBezTo>
                    <a:pt x="21908898" y="877570"/>
                    <a:pt x="21064094" y="33909"/>
                    <a:pt x="20022058" y="33909"/>
                  </a:cubicBezTo>
                  <a:lnTo>
                    <a:pt x="1920748" y="33909"/>
                  </a:lnTo>
                  <a:lnTo>
                    <a:pt x="1920748" y="16891"/>
                  </a:lnTo>
                  <a:lnTo>
                    <a:pt x="1920748" y="33909"/>
                  </a:lnTo>
                  <a:cubicBezTo>
                    <a:pt x="878586" y="33909"/>
                    <a:pt x="33909" y="877443"/>
                    <a:pt x="33909" y="1918081"/>
                  </a:cubicBez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65375" y="3297326"/>
            <a:ext cx="5550503" cy="3911603"/>
            <a:chOff x="0" y="0"/>
            <a:chExt cx="7400671" cy="52154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66761" cy="5181600"/>
            </a:xfrm>
            <a:custGeom>
              <a:avLst/>
              <a:gdLst/>
              <a:ahLst/>
              <a:cxnLst/>
              <a:rect l="l" t="t" r="r" b="b"/>
              <a:pathLst>
                <a:path w="7366761" h="5181600">
                  <a:moveTo>
                    <a:pt x="0" y="863600"/>
                  </a:moveTo>
                  <a:cubicBezTo>
                    <a:pt x="0" y="386588"/>
                    <a:pt x="387350" y="0"/>
                    <a:pt x="865251" y="0"/>
                  </a:cubicBezTo>
                  <a:lnTo>
                    <a:pt x="6501511" y="0"/>
                  </a:lnTo>
                  <a:cubicBezTo>
                    <a:pt x="6979412" y="0"/>
                    <a:pt x="7366761" y="386715"/>
                    <a:pt x="7366761" y="863600"/>
                  </a:cubicBezTo>
                  <a:lnTo>
                    <a:pt x="7366761" y="4318000"/>
                  </a:lnTo>
                  <a:cubicBezTo>
                    <a:pt x="7366761" y="4795012"/>
                    <a:pt x="6979411" y="5181600"/>
                    <a:pt x="6501511" y="5181600"/>
                  </a:cubicBezTo>
                  <a:lnTo>
                    <a:pt x="865378" y="5181600"/>
                  </a:lnTo>
                  <a:cubicBezTo>
                    <a:pt x="387477" y="5181600"/>
                    <a:pt x="127" y="4794885"/>
                    <a:pt x="127" y="4318000"/>
                  </a:cubicBezTo>
                  <a:close/>
                </a:path>
              </a:pathLst>
            </a:custGeom>
            <a:solidFill>
              <a:srgbClr val="4F81BD">
                <a:alpha val="3529"/>
              </a:srgbClr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7400798" cy="5215382"/>
            </a:xfrm>
            <a:custGeom>
              <a:avLst/>
              <a:gdLst/>
              <a:ahLst/>
              <a:cxnLst/>
              <a:rect l="l" t="t" r="r" b="b"/>
              <a:pathLst>
                <a:path w="7400798" h="5215382">
                  <a:moveTo>
                    <a:pt x="0" y="880491"/>
                  </a:moveTo>
                  <a:cubicBezTo>
                    <a:pt x="0" y="394208"/>
                    <a:pt x="394970" y="0"/>
                    <a:pt x="882269" y="0"/>
                  </a:cubicBezTo>
                  <a:lnTo>
                    <a:pt x="6518529" y="0"/>
                  </a:lnTo>
                  <a:lnTo>
                    <a:pt x="6518529" y="16891"/>
                  </a:lnTo>
                  <a:lnTo>
                    <a:pt x="6518529" y="0"/>
                  </a:lnTo>
                  <a:cubicBezTo>
                    <a:pt x="7005701" y="0"/>
                    <a:pt x="7400798" y="394208"/>
                    <a:pt x="7400798" y="880491"/>
                  </a:cubicBezTo>
                  <a:lnTo>
                    <a:pt x="7383780" y="880491"/>
                  </a:lnTo>
                  <a:lnTo>
                    <a:pt x="7400672" y="880491"/>
                  </a:lnTo>
                  <a:lnTo>
                    <a:pt x="7400672" y="4334891"/>
                  </a:lnTo>
                  <a:lnTo>
                    <a:pt x="7383780" y="4334891"/>
                  </a:lnTo>
                  <a:lnTo>
                    <a:pt x="7400672" y="4334891"/>
                  </a:lnTo>
                  <a:cubicBezTo>
                    <a:pt x="7400672" y="4821174"/>
                    <a:pt x="7005701" y="5215382"/>
                    <a:pt x="6518402" y="5215382"/>
                  </a:cubicBezTo>
                  <a:lnTo>
                    <a:pt x="6518402" y="5198491"/>
                  </a:lnTo>
                  <a:lnTo>
                    <a:pt x="6518402" y="5215382"/>
                  </a:lnTo>
                  <a:lnTo>
                    <a:pt x="882269" y="5215382"/>
                  </a:lnTo>
                  <a:lnTo>
                    <a:pt x="882269" y="5198491"/>
                  </a:lnTo>
                  <a:lnTo>
                    <a:pt x="882269" y="5215382"/>
                  </a:lnTo>
                  <a:cubicBezTo>
                    <a:pt x="394970" y="5215509"/>
                    <a:pt x="0" y="4821301"/>
                    <a:pt x="0" y="4334891"/>
                  </a:cubicBezTo>
                  <a:lnTo>
                    <a:pt x="0" y="880491"/>
                  </a:lnTo>
                  <a:lnTo>
                    <a:pt x="16891" y="880491"/>
                  </a:lnTo>
                  <a:lnTo>
                    <a:pt x="0" y="880491"/>
                  </a:lnTo>
                  <a:moveTo>
                    <a:pt x="33909" y="880491"/>
                  </a:moveTo>
                  <a:lnTo>
                    <a:pt x="33909" y="4334891"/>
                  </a:lnTo>
                  <a:lnTo>
                    <a:pt x="16891" y="4334891"/>
                  </a:lnTo>
                  <a:lnTo>
                    <a:pt x="33909" y="4334891"/>
                  </a:lnTo>
                  <a:cubicBezTo>
                    <a:pt x="33909" y="4802505"/>
                    <a:pt x="413639" y="5181600"/>
                    <a:pt x="882269" y="5181600"/>
                  </a:cubicBezTo>
                  <a:lnTo>
                    <a:pt x="6518529" y="5181600"/>
                  </a:lnTo>
                  <a:cubicBezTo>
                    <a:pt x="6987032" y="5181600"/>
                    <a:pt x="7366889" y="4802505"/>
                    <a:pt x="7366889" y="4334891"/>
                  </a:cubicBezTo>
                  <a:lnTo>
                    <a:pt x="7366889" y="880491"/>
                  </a:lnTo>
                  <a:cubicBezTo>
                    <a:pt x="7366889" y="412877"/>
                    <a:pt x="6987159" y="33782"/>
                    <a:pt x="6518529" y="33782"/>
                  </a:cubicBezTo>
                  <a:lnTo>
                    <a:pt x="882269" y="33782"/>
                  </a:lnTo>
                  <a:lnTo>
                    <a:pt x="882269" y="16891"/>
                  </a:lnTo>
                  <a:lnTo>
                    <a:pt x="882269" y="33909"/>
                  </a:lnTo>
                  <a:cubicBezTo>
                    <a:pt x="413766" y="33909"/>
                    <a:pt x="33909" y="413004"/>
                    <a:pt x="33909" y="880618"/>
                  </a:cubicBezTo>
                  <a:close/>
                </a:path>
              </a:pathLst>
            </a:custGeom>
            <a:solidFill>
              <a:srgbClr val="1C334E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125191" y="3576838"/>
            <a:ext cx="3619976" cy="621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2F2F2"/>
                </a:solidFill>
                <a:latin typeface="Calibri (MS)"/>
                <a:ea typeface="Calibri (MS)"/>
                <a:cs typeface="Calibri (MS)"/>
                <a:sym typeface="Calibri (MS)"/>
              </a:rPr>
              <a:t>Pre-Seed Round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88744" y="4126876"/>
            <a:ext cx="3288273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B0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$120 000</a:t>
            </a:r>
          </a:p>
          <a:p>
            <a:pPr algn="ctr">
              <a:lnSpc>
                <a:spcPts val="3720"/>
              </a:lnSpc>
            </a:pPr>
            <a:r>
              <a:rPr lang="en-US" sz="3100" b="1" dirty="0">
                <a:solidFill>
                  <a:srgbClr val="00B0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26797" y="5907781"/>
            <a:ext cx="4756490" cy="114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2F2F2"/>
                </a:solidFill>
                <a:latin typeface="Calibri (MS)"/>
                <a:ea typeface="Calibri (MS)"/>
                <a:cs typeface="Calibri (MS)"/>
                <a:sym typeface="Calibri (MS)"/>
              </a:rPr>
              <a:t>Ushbu mablag' platformani O'zbekiston bozorida to'liq mustahkamlash va 2027-yilgi 150,000 foydalanuvchi maqsadiga erishish uchun sarflanadi.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074820" y="4945542"/>
            <a:ext cx="939927" cy="1056218"/>
            <a:chOff x="0" y="0"/>
            <a:chExt cx="1253236" cy="140829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253236" cy="1408303"/>
            </a:xfrm>
            <a:custGeom>
              <a:avLst/>
              <a:gdLst/>
              <a:ahLst/>
              <a:cxnLst/>
              <a:rect l="l" t="t" r="r" b="b"/>
              <a:pathLst>
                <a:path w="1253236" h="1408303">
                  <a:moveTo>
                    <a:pt x="0" y="0"/>
                  </a:moveTo>
                  <a:lnTo>
                    <a:pt x="1253236" y="0"/>
                  </a:lnTo>
                  <a:lnTo>
                    <a:pt x="1253236" y="1408303"/>
                  </a:lnTo>
                  <a:lnTo>
                    <a:pt x="0" y="1408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86" r="-6185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90898" y="6500327"/>
            <a:ext cx="1011593" cy="1003059"/>
            <a:chOff x="0" y="0"/>
            <a:chExt cx="1348791" cy="133741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348740" cy="1337437"/>
            </a:xfrm>
            <a:custGeom>
              <a:avLst/>
              <a:gdLst/>
              <a:ahLst/>
              <a:cxnLst/>
              <a:rect l="l" t="t" r="r" b="b"/>
              <a:pathLst>
                <a:path w="1348740" h="1337437">
                  <a:moveTo>
                    <a:pt x="0" y="0"/>
                  </a:moveTo>
                  <a:lnTo>
                    <a:pt x="1348740" y="0"/>
                  </a:lnTo>
                  <a:lnTo>
                    <a:pt x="1348740" y="1337437"/>
                  </a:lnTo>
                  <a:lnTo>
                    <a:pt x="0" y="1337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25" r="-3" b="-423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07391" y="1289037"/>
            <a:ext cx="4873228" cy="647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1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Investitsiya So'rovi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10234603" y="4589421"/>
            <a:ext cx="5903946" cy="0"/>
          </a:xfrm>
          <a:prstGeom prst="line">
            <a:avLst/>
          </a:prstGeom>
          <a:ln w="14287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3" name="AutoShape 23"/>
          <p:cNvSpPr/>
          <p:nvPr/>
        </p:nvSpPr>
        <p:spPr>
          <a:xfrm flipV="1">
            <a:off x="10234603" y="4589421"/>
            <a:ext cx="2951973" cy="0"/>
          </a:xfrm>
          <a:prstGeom prst="line">
            <a:avLst/>
          </a:prstGeom>
          <a:ln w="142875" cap="rnd">
            <a:solidFill>
              <a:srgbClr val="38BD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24" name="Group 24"/>
          <p:cNvGrpSpPr/>
          <p:nvPr/>
        </p:nvGrpSpPr>
        <p:grpSpPr>
          <a:xfrm>
            <a:off x="9090898" y="3340503"/>
            <a:ext cx="980942" cy="1056237"/>
            <a:chOff x="0" y="0"/>
            <a:chExt cx="1307922" cy="1408316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307973" cy="1408303"/>
            </a:xfrm>
            <a:custGeom>
              <a:avLst/>
              <a:gdLst/>
              <a:ahLst/>
              <a:cxnLst/>
              <a:rect l="l" t="t" r="r" b="b"/>
              <a:pathLst>
                <a:path w="1307973" h="1408303">
                  <a:moveTo>
                    <a:pt x="0" y="0"/>
                  </a:moveTo>
                  <a:lnTo>
                    <a:pt x="1307973" y="0"/>
                  </a:lnTo>
                  <a:lnTo>
                    <a:pt x="1307973" y="1408303"/>
                  </a:lnTo>
                  <a:lnTo>
                    <a:pt x="0" y="1408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37" r="-3834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34603" y="3230594"/>
            <a:ext cx="3241919" cy="531362"/>
            <a:chOff x="0" y="0"/>
            <a:chExt cx="4322559" cy="7084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22565" cy="708485"/>
            </a:xfrm>
            <a:custGeom>
              <a:avLst/>
              <a:gdLst/>
              <a:ahLst/>
              <a:cxnLst/>
              <a:rect l="l" t="t" r="r" b="b"/>
              <a:pathLst>
                <a:path w="4322565" h="708485">
                  <a:moveTo>
                    <a:pt x="0" y="0"/>
                  </a:moveTo>
                  <a:lnTo>
                    <a:pt x="4322565" y="0"/>
                  </a:lnTo>
                  <a:lnTo>
                    <a:pt x="4322565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880" b="-68880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00025"/>
              <a:ext cx="432255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 b="1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Jamoani Kengaytirish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198951" y="3499294"/>
            <a:ext cx="6747119" cy="512321"/>
            <a:chOff x="0" y="0"/>
            <a:chExt cx="8996159" cy="6830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96166" cy="683093"/>
            </a:xfrm>
            <a:custGeom>
              <a:avLst/>
              <a:gdLst/>
              <a:ahLst/>
              <a:cxnLst/>
              <a:rect l="l" t="t" r="r" b="b"/>
              <a:pathLst>
                <a:path w="8996166" h="683093">
                  <a:moveTo>
                    <a:pt x="0" y="0"/>
                  </a:moveTo>
                  <a:lnTo>
                    <a:pt x="8996166" y="0"/>
                  </a:lnTo>
                  <a:lnTo>
                    <a:pt x="8996166" y="683093"/>
                  </a:lnTo>
                  <a:lnTo>
                    <a:pt x="0" y="68309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06612" b="-206612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52400"/>
              <a:ext cx="8996159" cy="835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120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Senior dasturchilar, mijozlarni qo'llab-quvvatlash va yuridik bo'lim.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318134" y="3761956"/>
            <a:ext cx="692782" cy="531362"/>
            <a:chOff x="0" y="0"/>
            <a:chExt cx="923709" cy="70848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23704" cy="708485"/>
            </a:xfrm>
            <a:custGeom>
              <a:avLst/>
              <a:gdLst/>
              <a:ahLst/>
              <a:cxnLst/>
              <a:rect l="l" t="t" r="r" b="b"/>
              <a:pathLst>
                <a:path w="923704" h="708485">
                  <a:moveTo>
                    <a:pt x="0" y="0"/>
                  </a:moveTo>
                  <a:lnTo>
                    <a:pt x="923704" y="0"/>
                  </a:lnTo>
                  <a:lnTo>
                    <a:pt x="923704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8408" r="-48409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00025"/>
              <a:ext cx="92370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50%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V="1">
            <a:off x="10234603" y="6236283"/>
            <a:ext cx="5903946" cy="0"/>
          </a:xfrm>
          <a:prstGeom prst="line">
            <a:avLst/>
          </a:prstGeom>
          <a:ln w="14287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36" name="AutoShape 36"/>
          <p:cNvSpPr/>
          <p:nvPr/>
        </p:nvSpPr>
        <p:spPr>
          <a:xfrm>
            <a:off x="10198951" y="6236283"/>
            <a:ext cx="1650906" cy="0"/>
          </a:xfrm>
          <a:prstGeom prst="line">
            <a:avLst/>
          </a:prstGeom>
          <a:ln w="142875" cap="rnd">
            <a:solidFill>
              <a:srgbClr val="8C5CF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37" name="Group 37"/>
          <p:cNvGrpSpPr/>
          <p:nvPr/>
        </p:nvGrpSpPr>
        <p:grpSpPr>
          <a:xfrm>
            <a:off x="10234603" y="4877457"/>
            <a:ext cx="3241919" cy="531362"/>
            <a:chOff x="0" y="0"/>
            <a:chExt cx="4322559" cy="70848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322565" cy="708485"/>
            </a:xfrm>
            <a:custGeom>
              <a:avLst/>
              <a:gdLst/>
              <a:ahLst/>
              <a:cxnLst/>
              <a:rect l="l" t="t" r="r" b="b"/>
              <a:pathLst>
                <a:path w="4322565" h="708485">
                  <a:moveTo>
                    <a:pt x="0" y="0"/>
                  </a:moveTo>
                  <a:lnTo>
                    <a:pt x="4322565" y="0"/>
                  </a:lnTo>
                  <a:lnTo>
                    <a:pt x="4322565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880" b="-68880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00025"/>
              <a:ext cx="432255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 b="1" dirty="0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Marketing </a:t>
              </a:r>
              <a:r>
                <a:rPr lang="en-US" sz="2200" b="1" dirty="0" err="1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</a:t>
              </a:r>
              <a:r>
                <a:rPr lang="en-US" sz="2200" b="1" dirty="0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2200" b="1" dirty="0" err="1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Sotuv</a:t>
              </a:r>
              <a:endParaRPr lang="en-US" sz="2200" b="1" dirty="0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198951" y="5146148"/>
            <a:ext cx="6747119" cy="512321"/>
            <a:chOff x="0" y="0"/>
            <a:chExt cx="8996159" cy="6830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996166" cy="683093"/>
            </a:xfrm>
            <a:custGeom>
              <a:avLst/>
              <a:gdLst/>
              <a:ahLst/>
              <a:cxnLst/>
              <a:rect l="l" t="t" r="r" b="b"/>
              <a:pathLst>
                <a:path w="8996166" h="683093">
                  <a:moveTo>
                    <a:pt x="0" y="0"/>
                  </a:moveTo>
                  <a:lnTo>
                    <a:pt x="8996166" y="0"/>
                  </a:lnTo>
                  <a:lnTo>
                    <a:pt x="8996166" y="683093"/>
                  </a:lnTo>
                  <a:lnTo>
                    <a:pt x="0" y="68309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06612" b="-206612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52400"/>
              <a:ext cx="8996159" cy="835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Dastlabki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5,000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foydalanuvchini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jalb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qilish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B2B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aksiyalar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SMM.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318134" y="5408819"/>
            <a:ext cx="692782" cy="531362"/>
            <a:chOff x="0" y="0"/>
            <a:chExt cx="923709" cy="70848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23704" cy="708485"/>
            </a:xfrm>
            <a:custGeom>
              <a:avLst/>
              <a:gdLst/>
              <a:ahLst/>
              <a:cxnLst/>
              <a:rect l="l" t="t" r="r" b="b"/>
              <a:pathLst>
                <a:path w="923704" h="708485">
                  <a:moveTo>
                    <a:pt x="0" y="0"/>
                  </a:moveTo>
                  <a:lnTo>
                    <a:pt x="923704" y="0"/>
                  </a:lnTo>
                  <a:lnTo>
                    <a:pt x="923704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8408" r="-48409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00025"/>
              <a:ext cx="92370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30%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>
            <a:off x="10234603" y="7799503"/>
            <a:ext cx="5903946" cy="0"/>
          </a:xfrm>
          <a:prstGeom prst="line">
            <a:avLst/>
          </a:prstGeom>
          <a:ln w="14287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7" name="AutoShape 47"/>
          <p:cNvSpPr/>
          <p:nvPr/>
        </p:nvSpPr>
        <p:spPr>
          <a:xfrm flipV="1">
            <a:off x="10234603" y="7799500"/>
            <a:ext cx="1044650" cy="6"/>
          </a:xfrm>
          <a:prstGeom prst="line">
            <a:avLst/>
          </a:prstGeom>
          <a:ln w="142875" cap="rnd">
            <a:solidFill>
              <a:srgbClr val="F59E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grpSp>
        <p:nvGrpSpPr>
          <p:cNvPr id="48" name="Group 48"/>
          <p:cNvGrpSpPr/>
          <p:nvPr/>
        </p:nvGrpSpPr>
        <p:grpSpPr>
          <a:xfrm>
            <a:off x="10228898" y="6440681"/>
            <a:ext cx="3241919" cy="531362"/>
            <a:chOff x="0" y="0"/>
            <a:chExt cx="4322559" cy="70848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322565" cy="708485"/>
            </a:xfrm>
            <a:custGeom>
              <a:avLst/>
              <a:gdLst/>
              <a:ahLst/>
              <a:cxnLst/>
              <a:rect l="l" t="t" r="r" b="b"/>
              <a:pathLst>
                <a:path w="4322565" h="708485">
                  <a:moveTo>
                    <a:pt x="0" y="0"/>
                  </a:moveTo>
                  <a:lnTo>
                    <a:pt x="4322565" y="0"/>
                  </a:lnTo>
                  <a:lnTo>
                    <a:pt x="4322565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880" b="-68880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00025"/>
              <a:ext cx="432255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 b="1" dirty="0" err="1">
                  <a:solidFill>
                    <a:srgbClr val="F2F0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Infratuzilma</a:t>
              </a:r>
              <a:endParaRPr lang="en-US" sz="2200" b="1" dirty="0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193245" y="6709372"/>
            <a:ext cx="6747119" cy="512321"/>
            <a:chOff x="0" y="0"/>
            <a:chExt cx="8996159" cy="68309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996166" cy="683093"/>
            </a:xfrm>
            <a:custGeom>
              <a:avLst/>
              <a:gdLst/>
              <a:ahLst/>
              <a:cxnLst/>
              <a:rect l="l" t="t" r="r" b="b"/>
              <a:pathLst>
                <a:path w="8996166" h="683093">
                  <a:moveTo>
                    <a:pt x="0" y="0"/>
                  </a:moveTo>
                  <a:lnTo>
                    <a:pt x="8996166" y="0"/>
                  </a:lnTo>
                  <a:lnTo>
                    <a:pt x="8996166" y="683093"/>
                  </a:lnTo>
                  <a:lnTo>
                    <a:pt x="0" y="68309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06612" b="-206612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52400"/>
              <a:ext cx="8996159" cy="835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00"/>
                </a:lnSpc>
              </a:pP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Server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quvvatlarini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oshirish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xavfsizlik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(Escrow)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tizimlari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200" dirty="0" err="1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litsenziyalar</a:t>
              </a:r>
              <a:r>
                <a:rPr lang="en-US" sz="1200" dirty="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312428" y="6972043"/>
            <a:ext cx="692782" cy="531362"/>
            <a:chOff x="0" y="0"/>
            <a:chExt cx="923709" cy="70848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23704" cy="708485"/>
            </a:xfrm>
            <a:custGeom>
              <a:avLst/>
              <a:gdLst/>
              <a:ahLst/>
              <a:cxnLst/>
              <a:rect l="l" t="t" r="r" b="b"/>
              <a:pathLst>
                <a:path w="923704" h="708485">
                  <a:moveTo>
                    <a:pt x="0" y="0"/>
                  </a:moveTo>
                  <a:lnTo>
                    <a:pt x="923704" y="0"/>
                  </a:lnTo>
                  <a:lnTo>
                    <a:pt x="923704" y="708485"/>
                  </a:lnTo>
                  <a:lnTo>
                    <a:pt x="0" y="7084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8408" r="-48409"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00025"/>
              <a:ext cx="923709" cy="908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750"/>
                </a:lnSpc>
              </a:pPr>
              <a:r>
                <a:rPr lang="en-US" sz="2200">
                  <a:solidFill>
                    <a:srgbClr val="F2F0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20%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2808108" y="5509458"/>
            <a:ext cx="4265038" cy="29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4ADE80"/>
                </a:solidFill>
                <a:latin typeface="Arimo Bold"/>
                <a:ea typeface="Arimo Bold"/>
                <a:cs typeface="Arimo Bold"/>
                <a:sym typeface="Arimo Bold"/>
              </a:rPr>
              <a:t>12 oylik operatsion byudjet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501</Words>
  <Application>Microsoft Office PowerPoint</Application>
  <PresentationFormat>Custom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Calibri (MS)</vt:lpstr>
      <vt:lpstr>Arimo</vt:lpstr>
      <vt:lpstr>Calibri</vt:lpstr>
      <vt:lpstr>Calibri (MS) Bold</vt:lpstr>
      <vt:lpstr>Arial</vt:lpstr>
      <vt:lpstr>Heebo Light</vt:lpstr>
      <vt:lpstr>Montserrat</vt:lpstr>
      <vt:lpstr>Montserrat Bold</vt:lpstr>
      <vt:lpstr>Heebo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Ishonchlilik</dc:title>
  <cp:lastModifiedBy>Ismoil Nigmatullayev</cp:lastModifiedBy>
  <cp:revision>4</cp:revision>
  <dcterms:created xsi:type="dcterms:W3CDTF">2006-08-16T00:00:00Z</dcterms:created>
  <dcterms:modified xsi:type="dcterms:W3CDTF">2026-04-29T09:51:49Z</dcterms:modified>
  <dc:identifier>DAHIK5lFlnU</dc:identifier>
</cp:coreProperties>
</file>